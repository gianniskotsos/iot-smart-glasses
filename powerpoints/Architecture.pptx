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7" r:id="rId4"/>
    <p:sldId id="280" r:id="rId5"/>
    <p:sldId id="268" r:id="rId6"/>
    <p:sldId id="270" r:id="rId7"/>
    <p:sldId id="271" r:id="rId8"/>
    <p:sldId id="272" r:id="rId9"/>
    <p:sldId id="275" r:id="rId10"/>
    <p:sldId id="282" r:id="rId11"/>
    <p:sldId id="283" r:id="rId12"/>
    <p:sldId id="284" r:id="rId13"/>
    <p:sldId id="285" r:id="rId14"/>
    <p:sldId id="279" r:id="rId15"/>
    <p:sldId id="281" r:id="rId16"/>
    <p:sldId id="273" r:id="rId1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0D6"/>
    <a:srgbClr val="CBCFD3"/>
    <a:srgbClr val="47D45A"/>
    <a:srgbClr val="FFC000"/>
    <a:srgbClr val="AEAEAE"/>
    <a:srgbClr val="E9A78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3B3D84-544A-4F90-99F6-10EBD8D9087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273A9FE-8B09-4567-8804-EC931CAB35E0}">
      <dgm:prSet/>
      <dgm:spPr/>
      <dgm:t>
        <a:bodyPr/>
        <a:lstStyle/>
        <a:p>
          <a:r>
            <a:rPr lang="en-US" dirty="0"/>
            <a:t>Real-Time Assistance &amp; Navigation from VLM/LLM</a:t>
          </a:r>
        </a:p>
      </dgm:t>
    </dgm:pt>
    <dgm:pt modelId="{9D832DBC-23A7-49D1-ABF6-158E30E09CB4}" type="parTrans" cxnId="{4C2B4440-7BA9-442F-B627-D38C9F0DF34A}">
      <dgm:prSet/>
      <dgm:spPr/>
      <dgm:t>
        <a:bodyPr/>
        <a:lstStyle/>
        <a:p>
          <a:endParaRPr lang="en-US"/>
        </a:p>
      </dgm:t>
    </dgm:pt>
    <dgm:pt modelId="{E3E9E10B-CE9C-4293-A80F-1F0590D5524D}" type="sibTrans" cxnId="{4C2B4440-7BA9-442F-B627-D38C9F0DF34A}">
      <dgm:prSet/>
      <dgm:spPr/>
      <dgm:t>
        <a:bodyPr/>
        <a:lstStyle/>
        <a:p>
          <a:endParaRPr lang="en-US"/>
        </a:p>
      </dgm:t>
    </dgm:pt>
    <dgm:pt modelId="{6030989D-E224-49F5-AA41-C4D86B261115}">
      <dgm:prSet/>
      <dgm:spPr/>
      <dgm:t>
        <a:bodyPr/>
        <a:lstStyle/>
        <a:p>
          <a:r>
            <a:rPr lang="en-US"/>
            <a:t>Health Monitoring &amp; Early Risk Detection</a:t>
          </a:r>
        </a:p>
      </dgm:t>
    </dgm:pt>
    <dgm:pt modelId="{CCFD2011-E951-4DF3-A0EE-0A8AF5AC6BEA}" type="parTrans" cxnId="{4801FF83-8A3C-457F-A295-59229CA8A89E}">
      <dgm:prSet/>
      <dgm:spPr/>
      <dgm:t>
        <a:bodyPr/>
        <a:lstStyle/>
        <a:p>
          <a:endParaRPr lang="en-US"/>
        </a:p>
      </dgm:t>
    </dgm:pt>
    <dgm:pt modelId="{BAED5031-178F-46D6-A558-069E2DA7A0E3}" type="sibTrans" cxnId="{4801FF83-8A3C-457F-A295-59229CA8A89E}">
      <dgm:prSet/>
      <dgm:spPr/>
      <dgm:t>
        <a:bodyPr/>
        <a:lstStyle/>
        <a:p>
          <a:endParaRPr lang="en-US"/>
        </a:p>
      </dgm:t>
    </dgm:pt>
    <dgm:pt modelId="{90A43E98-0D98-4685-9DBC-EA63F565BFF2}">
      <dgm:prSet/>
      <dgm:spPr/>
      <dgm:t>
        <a:bodyPr/>
        <a:lstStyle/>
        <a:p>
          <a:r>
            <a:rPr lang="en-US"/>
            <a:t>Emergency SOS &amp; Automatic Alerts in case of emergency</a:t>
          </a:r>
        </a:p>
      </dgm:t>
    </dgm:pt>
    <dgm:pt modelId="{1F9563E4-22BA-4ECE-9E90-085965185A0C}" type="parTrans" cxnId="{CF7CE3EC-7DB4-422B-9172-869902314F55}">
      <dgm:prSet/>
      <dgm:spPr/>
      <dgm:t>
        <a:bodyPr/>
        <a:lstStyle/>
        <a:p>
          <a:endParaRPr lang="en-US"/>
        </a:p>
      </dgm:t>
    </dgm:pt>
    <dgm:pt modelId="{54E8B8D0-C93C-427F-B090-89F2CAC5BF88}" type="sibTrans" cxnId="{CF7CE3EC-7DB4-422B-9172-869902314F55}">
      <dgm:prSet/>
      <dgm:spPr/>
      <dgm:t>
        <a:bodyPr/>
        <a:lstStyle/>
        <a:p>
          <a:endParaRPr lang="en-US"/>
        </a:p>
      </dgm:t>
    </dgm:pt>
    <dgm:pt modelId="{9995E391-FBB0-4585-A7F8-B5A821AEDB82}">
      <dgm:prSet/>
      <dgm:spPr/>
      <dgm:t>
        <a:bodyPr/>
        <a:lstStyle/>
        <a:p>
          <a:r>
            <a:rPr lang="en-US"/>
            <a:t>Caregiver Portal-Live communication and intervention</a:t>
          </a:r>
        </a:p>
      </dgm:t>
    </dgm:pt>
    <dgm:pt modelId="{868F3EE5-F89D-4523-9872-2C7BFCD6A99A}" type="parTrans" cxnId="{AD8D32D3-CA92-4E1D-A0CF-61D1194F7BEF}">
      <dgm:prSet/>
      <dgm:spPr/>
      <dgm:t>
        <a:bodyPr/>
        <a:lstStyle/>
        <a:p>
          <a:endParaRPr lang="en-US"/>
        </a:p>
      </dgm:t>
    </dgm:pt>
    <dgm:pt modelId="{477660D7-0DBF-4D6C-8C5D-3E0166750C2A}" type="sibTrans" cxnId="{AD8D32D3-CA92-4E1D-A0CF-61D1194F7BEF}">
      <dgm:prSet/>
      <dgm:spPr/>
      <dgm:t>
        <a:bodyPr/>
        <a:lstStyle/>
        <a:p>
          <a:endParaRPr lang="en-US"/>
        </a:p>
      </dgm:t>
    </dgm:pt>
    <dgm:pt modelId="{F1957003-2207-4FAF-BE1C-BD2BA97A15BC}" type="pres">
      <dgm:prSet presAssocID="{213B3D84-544A-4F90-99F6-10EBD8D90878}" presName="vert0" presStyleCnt="0">
        <dgm:presLayoutVars>
          <dgm:dir/>
          <dgm:animOne val="branch"/>
          <dgm:animLvl val="lvl"/>
        </dgm:presLayoutVars>
      </dgm:prSet>
      <dgm:spPr/>
    </dgm:pt>
    <dgm:pt modelId="{54E81F27-4519-406D-957A-199570AC03E8}" type="pres">
      <dgm:prSet presAssocID="{C273A9FE-8B09-4567-8804-EC931CAB35E0}" presName="thickLine" presStyleLbl="alignNode1" presStyleIdx="0" presStyleCnt="4"/>
      <dgm:spPr/>
    </dgm:pt>
    <dgm:pt modelId="{89F2A7BC-11CD-420B-A6B9-F81382E1CBCD}" type="pres">
      <dgm:prSet presAssocID="{C273A9FE-8B09-4567-8804-EC931CAB35E0}" presName="horz1" presStyleCnt="0"/>
      <dgm:spPr/>
    </dgm:pt>
    <dgm:pt modelId="{1F4894C6-4F73-47DE-A724-D8D8624E9821}" type="pres">
      <dgm:prSet presAssocID="{C273A9FE-8B09-4567-8804-EC931CAB35E0}" presName="tx1" presStyleLbl="revTx" presStyleIdx="0" presStyleCnt="4"/>
      <dgm:spPr/>
    </dgm:pt>
    <dgm:pt modelId="{CD43540E-FE5B-4A12-A88A-3BFD56464FE8}" type="pres">
      <dgm:prSet presAssocID="{C273A9FE-8B09-4567-8804-EC931CAB35E0}" presName="vert1" presStyleCnt="0"/>
      <dgm:spPr/>
    </dgm:pt>
    <dgm:pt modelId="{31AC8B93-372B-4245-9E5A-C0F6D508D8B3}" type="pres">
      <dgm:prSet presAssocID="{6030989D-E224-49F5-AA41-C4D86B261115}" presName="thickLine" presStyleLbl="alignNode1" presStyleIdx="1" presStyleCnt="4"/>
      <dgm:spPr/>
    </dgm:pt>
    <dgm:pt modelId="{7E7E41BC-F7F7-4892-AD88-60FF9777B02A}" type="pres">
      <dgm:prSet presAssocID="{6030989D-E224-49F5-AA41-C4D86B261115}" presName="horz1" presStyleCnt="0"/>
      <dgm:spPr/>
    </dgm:pt>
    <dgm:pt modelId="{5F955072-7299-4381-82A4-01874AB2230C}" type="pres">
      <dgm:prSet presAssocID="{6030989D-E224-49F5-AA41-C4D86B261115}" presName="tx1" presStyleLbl="revTx" presStyleIdx="1" presStyleCnt="4"/>
      <dgm:spPr/>
    </dgm:pt>
    <dgm:pt modelId="{E9BD0DEA-E853-489A-B1E7-B5C92A37F00A}" type="pres">
      <dgm:prSet presAssocID="{6030989D-E224-49F5-AA41-C4D86B261115}" presName="vert1" presStyleCnt="0"/>
      <dgm:spPr/>
    </dgm:pt>
    <dgm:pt modelId="{C972286B-BB61-43BA-B9CF-577B5B3F74FA}" type="pres">
      <dgm:prSet presAssocID="{90A43E98-0D98-4685-9DBC-EA63F565BFF2}" presName="thickLine" presStyleLbl="alignNode1" presStyleIdx="2" presStyleCnt="4"/>
      <dgm:spPr/>
    </dgm:pt>
    <dgm:pt modelId="{9E8921C3-B23A-4356-BA29-634086F9CF9E}" type="pres">
      <dgm:prSet presAssocID="{90A43E98-0D98-4685-9DBC-EA63F565BFF2}" presName="horz1" presStyleCnt="0"/>
      <dgm:spPr/>
    </dgm:pt>
    <dgm:pt modelId="{D3DCA890-BF9C-4E8D-B623-B7A919B1EC8A}" type="pres">
      <dgm:prSet presAssocID="{90A43E98-0D98-4685-9DBC-EA63F565BFF2}" presName="tx1" presStyleLbl="revTx" presStyleIdx="2" presStyleCnt="4"/>
      <dgm:spPr/>
    </dgm:pt>
    <dgm:pt modelId="{58436E49-0315-451D-830B-98F257C999C5}" type="pres">
      <dgm:prSet presAssocID="{90A43E98-0D98-4685-9DBC-EA63F565BFF2}" presName="vert1" presStyleCnt="0"/>
      <dgm:spPr/>
    </dgm:pt>
    <dgm:pt modelId="{BBFE146F-3049-449F-9EDB-8AB7EA8D5BF8}" type="pres">
      <dgm:prSet presAssocID="{9995E391-FBB0-4585-A7F8-B5A821AEDB82}" presName="thickLine" presStyleLbl="alignNode1" presStyleIdx="3" presStyleCnt="4"/>
      <dgm:spPr/>
    </dgm:pt>
    <dgm:pt modelId="{F00514BA-BC27-4CAA-8D9E-6C64A9F0E1E1}" type="pres">
      <dgm:prSet presAssocID="{9995E391-FBB0-4585-A7F8-B5A821AEDB82}" presName="horz1" presStyleCnt="0"/>
      <dgm:spPr/>
    </dgm:pt>
    <dgm:pt modelId="{263BFF2F-6B9B-48DF-98F9-5FBF8FB7BD68}" type="pres">
      <dgm:prSet presAssocID="{9995E391-FBB0-4585-A7F8-B5A821AEDB82}" presName="tx1" presStyleLbl="revTx" presStyleIdx="3" presStyleCnt="4"/>
      <dgm:spPr/>
    </dgm:pt>
    <dgm:pt modelId="{E641C9A1-DD72-4A2E-8509-ECD15339BF7D}" type="pres">
      <dgm:prSet presAssocID="{9995E391-FBB0-4585-A7F8-B5A821AEDB82}" presName="vert1" presStyleCnt="0"/>
      <dgm:spPr/>
    </dgm:pt>
  </dgm:ptLst>
  <dgm:cxnLst>
    <dgm:cxn modelId="{B173E62C-14CF-4704-88F3-790B6D604ABF}" type="presOf" srcId="{213B3D84-544A-4F90-99F6-10EBD8D90878}" destId="{F1957003-2207-4FAF-BE1C-BD2BA97A15BC}" srcOrd="0" destOrd="0" presId="urn:microsoft.com/office/officeart/2008/layout/LinedList"/>
    <dgm:cxn modelId="{B5F61A37-7C60-424F-994F-0ED105556B6A}" type="presOf" srcId="{C273A9FE-8B09-4567-8804-EC931CAB35E0}" destId="{1F4894C6-4F73-47DE-A724-D8D8624E9821}" srcOrd="0" destOrd="0" presId="urn:microsoft.com/office/officeart/2008/layout/LinedList"/>
    <dgm:cxn modelId="{4C2B4440-7BA9-442F-B627-D38C9F0DF34A}" srcId="{213B3D84-544A-4F90-99F6-10EBD8D90878}" destId="{C273A9FE-8B09-4567-8804-EC931CAB35E0}" srcOrd="0" destOrd="0" parTransId="{9D832DBC-23A7-49D1-ABF6-158E30E09CB4}" sibTransId="{E3E9E10B-CE9C-4293-A80F-1F0590D5524D}"/>
    <dgm:cxn modelId="{4FD40863-771E-427B-B02B-C8BB8EB5D6D8}" type="presOf" srcId="{90A43E98-0D98-4685-9DBC-EA63F565BFF2}" destId="{D3DCA890-BF9C-4E8D-B623-B7A919B1EC8A}" srcOrd="0" destOrd="0" presId="urn:microsoft.com/office/officeart/2008/layout/LinedList"/>
    <dgm:cxn modelId="{4801FF83-8A3C-457F-A295-59229CA8A89E}" srcId="{213B3D84-544A-4F90-99F6-10EBD8D90878}" destId="{6030989D-E224-49F5-AA41-C4D86B261115}" srcOrd="1" destOrd="0" parTransId="{CCFD2011-E951-4DF3-A0EE-0A8AF5AC6BEA}" sibTransId="{BAED5031-178F-46D6-A558-069E2DA7A0E3}"/>
    <dgm:cxn modelId="{B017A4D0-0DC6-413F-8D0F-D0F67A878F6B}" type="presOf" srcId="{9995E391-FBB0-4585-A7F8-B5A821AEDB82}" destId="{263BFF2F-6B9B-48DF-98F9-5FBF8FB7BD68}" srcOrd="0" destOrd="0" presId="urn:microsoft.com/office/officeart/2008/layout/LinedList"/>
    <dgm:cxn modelId="{AD8D32D3-CA92-4E1D-A0CF-61D1194F7BEF}" srcId="{213B3D84-544A-4F90-99F6-10EBD8D90878}" destId="{9995E391-FBB0-4585-A7F8-B5A821AEDB82}" srcOrd="3" destOrd="0" parTransId="{868F3EE5-F89D-4523-9872-2C7BFCD6A99A}" sibTransId="{477660D7-0DBF-4D6C-8C5D-3E0166750C2A}"/>
    <dgm:cxn modelId="{CF7CE3EC-7DB4-422B-9172-869902314F55}" srcId="{213B3D84-544A-4F90-99F6-10EBD8D90878}" destId="{90A43E98-0D98-4685-9DBC-EA63F565BFF2}" srcOrd="2" destOrd="0" parTransId="{1F9563E4-22BA-4ECE-9E90-085965185A0C}" sibTransId="{54E8B8D0-C93C-427F-B090-89F2CAC5BF88}"/>
    <dgm:cxn modelId="{9D5B42F4-34E1-4E6D-AA4B-E48CD2003F84}" type="presOf" srcId="{6030989D-E224-49F5-AA41-C4D86B261115}" destId="{5F955072-7299-4381-82A4-01874AB2230C}" srcOrd="0" destOrd="0" presId="urn:microsoft.com/office/officeart/2008/layout/LinedList"/>
    <dgm:cxn modelId="{6CC2DCBD-CDF9-4F92-8176-B0FB386FEFC5}" type="presParOf" srcId="{F1957003-2207-4FAF-BE1C-BD2BA97A15BC}" destId="{54E81F27-4519-406D-957A-199570AC03E8}" srcOrd="0" destOrd="0" presId="urn:microsoft.com/office/officeart/2008/layout/LinedList"/>
    <dgm:cxn modelId="{FFF5F20E-1B27-4C12-A3E1-8A562E251584}" type="presParOf" srcId="{F1957003-2207-4FAF-BE1C-BD2BA97A15BC}" destId="{89F2A7BC-11CD-420B-A6B9-F81382E1CBCD}" srcOrd="1" destOrd="0" presId="urn:microsoft.com/office/officeart/2008/layout/LinedList"/>
    <dgm:cxn modelId="{260EA0F3-9FF5-4C39-9887-BC17E6B6F78A}" type="presParOf" srcId="{89F2A7BC-11CD-420B-A6B9-F81382E1CBCD}" destId="{1F4894C6-4F73-47DE-A724-D8D8624E9821}" srcOrd="0" destOrd="0" presId="urn:microsoft.com/office/officeart/2008/layout/LinedList"/>
    <dgm:cxn modelId="{FD82052B-3B84-4FC1-BEBE-9D0349A0DCAB}" type="presParOf" srcId="{89F2A7BC-11CD-420B-A6B9-F81382E1CBCD}" destId="{CD43540E-FE5B-4A12-A88A-3BFD56464FE8}" srcOrd="1" destOrd="0" presId="urn:microsoft.com/office/officeart/2008/layout/LinedList"/>
    <dgm:cxn modelId="{9F5352C2-04A0-4079-8D91-FB8667611BCE}" type="presParOf" srcId="{F1957003-2207-4FAF-BE1C-BD2BA97A15BC}" destId="{31AC8B93-372B-4245-9E5A-C0F6D508D8B3}" srcOrd="2" destOrd="0" presId="urn:microsoft.com/office/officeart/2008/layout/LinedList"/>
    <dgm:cxn modelId="{AC95DF55-7D25-4743-AB38-098D3CF42D6F}" type="presParOf" srcId="{F1957003-2207-4FAF-BE1C-BD2BA97A15BC}" destId="{7E7E41BC-F7F7-4892-AD88-60FF9777B02A}" srcOrd="3" destOrd="0" presId="urn:microsoft.com/office/officeart/2008/layout/LinedList"/>
    <dgm:cxn modelId="{43128141-0AF1-4EEF-AF2E-2069DF122253}" type="presParOf" srcId="{7E7E41BC-F7F7-4892-AD88-60FF9777B02A}" destId="{5F955072-7299-4381-82A4-01874AB2230C}" srcOrd="0" destOrd="0" presId="urn:microsoft.com/office/officeart/2008/layout/LinedList"/>
    <dgm:cxn modelId="{03DFFFD7-067B-4201-97E9-A35C994CE8CB}" type="presParOf" srcId="{7E7E41BC-F7F7-4892-AD88-60FF9777B02A}" destId="{E9BD0DEA-E853-489A-B1E7-B5C92A37F00A}" srcOrd="1" destOrd="0" presId="urn:microsoft.com/office/officeart/2008/layout/LinedList"/>
    <dgm:cxn modelId="{11C01E80-B701-4B07-B243-500C05387944}" type="presParOf" srcId="{F1957003-2207-4FAF-BE1C-BD2BA97A15BC}" destId="{C972286B-BB61-43BA-B9CF-577B5B3F74FA}" srcOrd="4" destOrd="0" presId="urn:microsoft.com/office/officeart/2008/layout/LinedList"/>
    <dgm:cxn modelId="{4CE01DD1-3AD9-4EF8-9AEE-752D4826E5FC}" type="presParOf" srcId="{F1957003-2207-4FAF-BE1C-BD2BA97A15BC}" destId="{9E8921C3-B23A-4356-BA29-634086F9CF9E}" srcOrd="5" destOrd="0" presId="urn:microsoft.com/office/officeart/2008/layout/LinedList"/>
    <dgm:cxn modelId="{33E5CDFF-8B6D-4295-A05E-47E6D916C8EB}" type="presParOf" srcId="{9E8921C3-B23A-4356-BA29-634086F9CF9E}" destId="{D3DCA890-BF9C-4E8D-B623-B7A919B1EC8A}" srcOrd="0" destOrd="0" presId="urn:microsoft.com/office/officeart/2008/layout/LinedList"/>
    <dgm:cxn modelId="{9CD8AE61-D412-44D7-A5A4-878A8B8D6F5F}" type="presParOf" srcId="{9E8921C3-B23A-4356-BA29-634086F9CF9E}" destId="{58436E49-0315-451D-830B-98F257C999C5}" srcOrd="1" destOrd="0" presId="urn:microsoft.com/office/officeart/2008/layout/LinedList"/>
    <dgm:cxn modelId="{2FE39010-7A03-4121-BDE6-86B1420BA1D1}" type="presParOf" srcId="{F1957003-2207-4FAF-BE1C-BD2BA97A15BC}" destId="{BBFE146F-3049-449F-9EDB-8AB7EA8D5BF8}" srcOrd="6" destOrd="0" presId="urn:microsoft.com/office/officeart/2008/layout/LinedList"/>
    <dgm:cxn modelId="{CFAC49DC-920D-4971-B0AF-12EECDEE1E04}" type="presParOf" srcId="{F1957003-2207-4FAF-BE1C-BD2BA97A15BC}" destId="{F00514BA-BC27-4CAA-8D9E-6C64A9F0E1E1}" srcOrd="7" destOrd="0" presId="urn:microsoft.com/office/officeart/2008/layout/LinedList"/>
    <dgm:cxn modelId="{416F3E38-7FAF-4738-A4E2-DEA4F8DB1ADC}" type="presParOf" srcId="{F00514BA-BC27-4CAA-8D9E-6C64A9F0E1E1}" destId="{263BFF2F-6B9B-48DF-98F9-5FBF8FB7BD68}" srcOrd="0" destOrd="0" presId="urn:microsoft.com/office/officeart/2008/layout/LinedList"/>
    <dgm:cxn modelId="{C9CC3B1B-CB68-459A-8296-7F0367447A44}" type="presParOf" srcId="{F00514BA-BC27-4CAA-8D9E-6C64A9F0E1E1}" destId="{E641C9A1-DD72-4A2E-8509-ECD15339BF7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81F27-4519-406D-957A-199570AC03E8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894C6-4F73-47DE-A724-D8D8624E9821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Real-Time Assistance &amp; Navigation from VLM/LLM</a:t>
          </a:r>
        </a:p>
      </dsp:txBody>
      <dsp:txXfrm>
        <a:off x="0" y="0"/>
        <a:ext cx="6900512" cy="1384035"/>
      </dsp:txXfrm>
    </dsp:sp>
    <dsp:sp modelId="{31AC8B93-372B-4245-9E5A-C0F6D508D8B3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55072-7299-4381-82A4-01874AB2230C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Health Monitoring &amp; Early Risk Detection</a:t>
          </a:r>
        </a:p>
      </dsp:txBody>
      <dsp:txXfrm>
        <a:off x="0" y="1384035"/>
        <a:ext cx="6900512" cy="1384035"/>
      </dsp:txXfrm>
    </dsp:sp>
    <dsp:sp modelId="{C972286B-BB61-43BA-B9CF-577B5B3F74FA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CA890-BF9C-4E8D-B623-B7A919B1EC8A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Emergency SOS &amp; Automatic Alerts in case of emergency</a:t>
          </a:r>
        </a:p>
      </dsp:txBody>
      <dsp:txXfrm>
        <a:off x="0" y="2768070"/>
        <a:ext cx="6900512" cy="1384035"/>
      </dsp:txXfrm>
    </dsp:sp>
    <dsp:sp modelId="{BBFE146F-3049-449F-9EDB-8AB7EA8D5BF8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BFF2F-6B9B-48DF-98F9-5FBF8FB7BD68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Caregiver Portal-Live communication and intervention</a:t>
          </a:r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3EDB851-9686-74DA-1514-7E18B5BBF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4FC7F5E1-E423-2B03-45C1-1218F09A7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13468AF-0F7B-D805-05B3-80F85DED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C9947AF-7706-B93C-283B-4A7F80B1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D81469D-EC57-17EF-C312-CE084AB8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2029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4D2CC56-068C-FC25-19D2-7FDA9A90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F0F5A09-5F2F-BFC9-CFB5-2F4B67F9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C727520-942F-471E-FC8B-EDB1E9D9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7E646B0-A06B-B01A-A228-258C5801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ADBBFE12-2B1E-7C94-C7B8-57C60EBE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4899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AB70998-D0E1-0110-C633-9B9FAFCD0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0FB5DF5-3438-7BDE-BF92-3198985E8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BEDDD7D-19D9-80DD-5EB5-A3F3F522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45C7725-8859-FE85-6EAC-7BA51B68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8EABC1D-3D34-9D20-1B0E-B63F1EE3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00552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707E39C-D235-AD1C-4C92-5D13A88D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3F9D081-F96F-4A9B-04A7-0EC36567A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A6C03DE8-98C7-B2BB-47D6-40674033E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79C0E9F7-6C7E-4190-CAC5-B180DE107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EE5CA33-A4FC-5C39-4218-90659675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A96E2EB1-6282-72F0-4250-E1BA004F0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3928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3D885B3-8695-F73F-370D-2D3E5A68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01A8913C-C16F-B889-0220-C5183D95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9A70DEA7-1368-6400-D1A6-DB41CB99C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C2BCAC5-F470-D0D1-DFF4-64CD0488D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BB152562-4442-F74E-6E48-CACAFDC9A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88061C6A-08C6-2EA1-038C-3BA58877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A660A292-8971-6F72-C413-3518CAF7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F9474AD2-7BC9-3378-2A48-07F9760B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396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87FCCA1-5414-CA60-2F46-BCDBE7BE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057840-5970-859C-343D-C91D3B0A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ECA4BB9C-C83D-7979-3102-A095512F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36C55FF0-21A0-F53C-D23B-CD8F737B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604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CECB07F2-E7BC-A2BF-97B5-52AF1033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06133178-708C-3ACF-DDB4-E320BF455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9376166-66A3-8C5B-08C0-313DAD51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9603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7658906-BBA4-AB4D-FCC9-081950BB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68F8403-9C95-4540-9E71-F24737315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E8F0A010-5DB9-4B12-9CFA-C863663ED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57A4746-CE6E-902F-75C8-D0E157F7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008AEB9-B353-7A58-EB1D-11A591268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23612E01-7AA9-CE75-25D5-EBB24360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5978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1CE6BA8-055F-C926-E97A-CC227CE2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73B32771-1EFF-FF97-3608-66CA85DBB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6CE23DD1-EBAA-72E9-4900-35248957C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3EE960DC-EAEE-6EA5-0539-1E5E4003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B14DA618-427E-397A-23A4-41C0807A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48C04739-8DFA-F1D9-E3EB-6BE6C92F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99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444EE93-4D78-B8BD-3878-DC7087A0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51CBA608-1A63-2485-F2D9-C3EF50C0F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5792D1B-7498-E7AA-4EB9-0D8626132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C1BC8CF-27B9-5BD2-968D-6EB7B482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DCC52-07CB-2B63-D5B2-8F10348E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0115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2F50881A-D108-6EAE-E4C6-0BDA04E2A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06D91C9-BF50-8343-9F62-3AECEDDB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3C54ED0-BADD-6257-DBF4-6839E6D4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CBFD407-1C91-E685-00BE-1B49B056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CEA0619-8C18-3075-D6FB-BD3C1B4A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5047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BC8028D7-2EBC-91AC-75CD-2A99F03BD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C54B503E-1316-AF96-F960-648663A7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D33B466-FE78-00B0-5AD6-282B51F51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CF63F-5783-4282-BF85-D7DE9A95FD54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7922BD0-0B45-3BF0-F790-79E0FEA7A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06466C1-8ECD-262B-673F-644597A78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25A44-8C01-4007-B1FD-FC8BF6F1DDB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7073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F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Εικόνα 5" descr="Εικόνα που περιέχει γυαλιά, αξεσουάρ, είδη για τα μάτια, γυαλιά ηλίου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DE225D8-C261-88CA-2B6A-A184E0BCF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>
            <a:fillRect/>
          </a:stretch>
        </p:blipFill>
        <p:spPr>
          <a:xfrm>
            <a:off x="0" y="10"/>
            <a:ext cx="97535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7350583-C7EE-22DB-CC66-B0A6E4D53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5478" y="483030"/>
            <a:ext cx="3445765" cy="1831587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Georgia" panose="02040502050405020303" pitchFamily="18" charset="0"/>
              </a:rPr>
              <a:t>Assistance for people with Disabilities</a:t>
            </a:r>
            <a:endParaRPr lang="el-GR" sz="4000" dirty="0">
              <a:latin typeface="Georgia" panose="02040502050405020303" pitchFamily="18" charset="0"/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7828571-24AD-F15E-C595-8B3FDA331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5477" y="5087589"/>
            <a:ext cx="3445766" cy="1485319"/>
          </a:xfrm>
          <a:noFill/>
        </p:spPr>
        <p:txBody>
          <a:bodyPr>
            <a:normAutofit fontScale="92500"/>
          </a:bodyPr>
          <a:lstStyle/>
          <a:p>
            <a:pPr algn="l"/>
            <a:r>
              <a:rPr lang="el-GR" dirty="0"/>
              <a:t>ΟΜΑΔΑ 8</a:t>
            </a:r>
          </a:p>
          <a:p>
            <a:pPr algn="l"/>
            <a:r>
              <a:rPr lang="el-GR" dirty="0"/>
              <a:t>ΚΩΤΣΟΠΟΥΛΟΣ ΙΩΑΝΝΗΣ</a:t>
            </a:r>
          </a:p>
          <a:p>
            <a:pPr algn="l"/>
            <a:r>
              <a:rPr lang="el-GR" dirty="0"/>
              <a:t>ΚΑΡΒΟΥΝΗΣ ΠΑΣΧΑΛΗΣ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3ABFF-635A-E737-96AE-7265F58996C7}"/>
              </a:ext>
            </a:extLst>
          </p:cNvPr>
          <p:cNvSpPr txBox="1"/>
          <p:nvPr/>
        </p:nvSpPr>
        <p:spPr>
          <a:xfrm>
            <a:off x="725121" y="4629234"/>
            <a:ext cx="37611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Georgia" panose="02040502050405020303" pitchFamily="18" charset="0"/>
              </a:rPr>
              <a:t>Architecture &amp; Alpha version</a:t>
            </a:r>
            <a:endParaRPr lang="el-GR" sz="4000" dirty="0"/>
          </a:p>
        </p:txBody>
      </p:sp>
    </p:spTree>
    <p:extLst>
      <p:ext uri="{BB962C8B-B14F-4D97-AF65-F5344CB8AC3E}">
        <p14:creationId xmlns:p14="http://schemas.microsoft.com/office/powerpoint/2010/main" val="263163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93F21F9-FA1C-E3A4-1EBA-562CD555A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Critical Sensors </a:t>
            </a:r>
            <a:endParaRPr lang="el-GR" sz="4800" dirty="0"/>
          </a:p>
        </p:txBody>
      </p:sp>
      <p:sp>
        <p:nvSpPr>
          <p:cNvPr id="7" name="Θέση περιεχομένου 2">
            <a:extLst>
              <a:ext uri="{FF2B5EF4-FFF2-40B4-BE49-F238E27FC236}">
                <a16:creationId xmlns:a16="http://schemas.microsoft.com/office/drawing/2014/main" id="{12A76E02-42C6-28DD-83DC-D4295E689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04014"/>
            <a:ext cx="9941319" cy="3438166"/>
          </a:xfrm>
        </p:spPr>
        <p:txBody>
          <a:bodyPr anchor="ctr">
            <a:normAutofit/>
          </a:bodyPr>
          <a:lstStyle/>
          <a:p>
            <a:r>
              <a:rPr lang="en-US" sz="2400" dirty="0"/>
              <a:t>Camera</a:t>
            </a:r>
          </a:p>
          <a:p>
            <a:r>
              <a:rPr lang="en-US" sz="2400" dirty="0"/>
              <a:t>Heart Rate Sensor</a:t>
            </a:r>
          </a:p>
          <a:p>
            <a:r>
              <a:rPr lang="en-US" sz="2400" dirty="0"/>
              <a:t>Gyroscope and Accelerometer</a:t>
            </a:r>
          </a:p>
          <a:p>
            <a:r>
              <a:rPr lang="en-US" sz="2400" dirty="0"/>
              <a:t>Phone Sensors:</a:t>
            </a:r>
          </a:p>
          <a:p>
            <a:pPr lvl="3"/>
            <a:r>
              <a:rPr lang="en-US" sz="2400" dirty="0"/>
              <a:t>Microphone</a:t>
            </a:r>
          </a:p>
          <a:p>
            <a:pPr lvl="3"/>
            <a:r>
              <a:rPr lang="en-US" sz="2400" dirty="0"/>
              <a:t>GPS</a:t>
            </a:r>
          </a:p>
          <a:p>
            <a:pPr lvl="3"/>
            <a:endParaRPr lang="en-US" sz="2400" dirty="0"/>
          </a:p>
          <a:p>
            <a:endParaRPr lang="el-GR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91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B38DFF1-6814-B18D-78AD-C3610CB2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Possible Use Cases</a:t>
            </a:r>
            <a:endParaRPr lang="el-GR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6309F438-8019-685A-6AC8-BEC54AAB2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10537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678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5DFB-BDC1-33FD-254D-CC1EFFDE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Ευθύγραμμο βέλος σύνδεσης 8">
            <a:extLst>
              <a:ext uri="{FF2B5EF4-FFF2-40B4-BE49-F238E27FC236}">
                <a16:creationId xmlns:a16="http://schemas.microsoft.com/office/drawing/2014/main" id="{9A51B3D9-96F0-E321-9E00-9C607C03E3CE}"/>
              </a:ext>
            </a:extLst>
          </p:cNvPr>
          <p:cNvCxnSpPr>
            <a:cxnSpLocks/>
          </p:cNvCxnSpPr>
          <p:nvPr/>
        </p:nvCxnSpPr>
        <p:spPr>
          <a:xfrm>
            <a:off x="711445" y="1333408"/>
            <a:ext cx="0" cy="58993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Ορθογώνιο: Στρογγύλεμα γωνιών 12">
            <a:extLst>
              <a:ext uri="{FF2B5EF4-FFF2-40B4-BE49-F238E27FC236}">
                <a16:creationId xmlns:a16="http://schemas.microsoft.com/office/drawing/2014/main" id="{5C36E995-E4BF-AAEB-B29F-DA14080AAB31}"/>
              </a:ext>
            </a:extLst>
          </p:cNvPr>
          <p:cNvSpPr/>
          <p:nvPr/>
        </p:nvSpPr>
        <p:spPr>
          <a:xfrm>
            <a:off x="120288" y="1923344"/>
            <a:ext cx="1706358" cy="4494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B42D1D15-AC11-A3AF-6153-F4F2455501AF}"/>
              </a:ext>
            </a:extLst>
          </p:cNvPr>
          <p:cNvSpPr/>
          <p:nvPr/>
        </p:nvSpPr>
        <p:spPr>
          <a:xfrm>
            <a:off x="390323" y="2346650"/>
            <a:ext cx="1166285" cy="4768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Glasses-Client</a:t>
            </a:r>
            <a:endParaRPr kumimoji="0" lang="el-G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Ορθογώνιο: Στρογγύλεμα γωνιών 15">
            <a:extLst>
              <a:ext uri="{FF2B5EF4-FFF2-40B4-BE49-F238E27FC236}">
                <a16:creationId xmlns:a16="http://schemas.microsoft.com/office/drawing/2014/main" id="{F71A49DC-EDE2-E16C-00A8-0AC37C26F6BB}"/>
              </a:ext>
            </a:extLst>
          </p:cNvPr>
          <p:cNvSpPr/>
          <p:nvPr/>
        </p:nvSpPr>
        <p:spPr>
          <a:xfrm>
            <a:off x="291674" y="3937703"/>
            <a:ext cx="1395579" cy="62677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RT DEPENDENT</a:t>
            </a:r>
            <a:endParaRPr kumimoji="0" lang="el-G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Ορθογώνιο: Στρογγύλεμα γωνιών 16">
            <a:extLst>
              <a:ext uri="{FF2B5EF4-FFF2-40B4-BE49-F238E27FC236}">
                <a16:creationId xmlns:a16="http://schemas.microsoft.com/office/drawing/2014/main" id="{F39DDCD2-6567-9094-949F-B8DB7698D4B0}"/>
              </a:ext>
            </a:extLst>
          </p:cNvPr>
          <p:cNvSpPr/>
          <p:nvPr/>
        </p:nvSpPr>
        <p:spPr>
          <a:xfrm>
            <a:off x="380604" y="3119852"/>
            <a:ext cx="1170149" cy="5413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Local VLM/LLM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Ορθογώνιο: Στρογγύλεμα γωνιών 17">
            <a:extLst>
              <a:ext uri="{FF2B5EF4-FFF2-40B4-BE49-F238E27FC236}">
                <a16:creationId xmlns:a16="http://schemas.microsoft.com/office/drawing/2014/main" id="{1A202DCF-E74C-C237-67D8-51877B26731C}"/>
              </a:ext>
            </a:extLst>
          </p:cNvPr>
          <p:cNvSpPr/>
          <p:nvPr/>
        </p:nvSpPr>
        <p:spPr>
          <a:xfrm>
            <a:off x="359301" y="4821389"/>
            <a:ext cx="1230854" cy="5579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Minimal health watchdog 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288B87-DEC9-B110-64AE-C55B0590FEB4}"/>
              </a:ext>
            </a:extLst>
          </p:cNvPr>
          <p:cNvSpPr txBox="1"/>
          <p:nvPr/>
        </p:nvSpPr>
        <p:spPr>
          <a:xfrm>
            <a:off x="62178" y="1984355"/>
            <a:ext cx="1864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Glasses Controller</a:t>
            </a:r>
            <a:endParaRPr kumimoji="0" lang="el-G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Οβάλ 20">
            <a:extLst>
              <a:ext uri="{FF2B5EF4-FFF2-40B4-BE49-F238E27FC236}">
                <a16:creationId xmlns:a16="http://schemas.microsoft.com/office/drawing/2014/main" id="{FC580E7E-6A00-6326-4B2D-6DFBE2A0C61C}"/>
              </a:ext>
            </a:extLst>
          </p:cNvPr>
          <p:cNvSpPr/>
          <p:nvPr/>
        </p:nvSpPr>
        <p:spPr>
          <a:xfrm>
            <a:off x="4942086" y="4834673"/>
            <a:ext cx="1841107" cy="990634"/>
          </a:xfrm>
          <a:prstGeom prst="ellipse">
            <a:avLst/>
          </a:prstGeom>
          <a:solidFill>
            <a:srgbClr val="47D4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 Broker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Οβάλ 29">
            <a:extLst>
              <a:ext uri="{FF2B5EF4-FFF2-40B4-BE49-F238E27FC236}">
                <a16:creationId xmlns:a16="http://schemas.microsoft.com/office/drawing/2014/main" id="{9583CB7B-E65A-4C47-1EFD-E6A7C41F75C8}"/>
              </a:ext>
            </a:extLst>
          </p:cNvPr>
          <p:cNvSpPr/>
          <p:nvPr/>
        </p:nvSpPr>
        <p:spPr>
          <a:xfrm>
            <a:off x="5077034" y="3390639"/>
            <a:ext cx="1543661" cy="865239"/>
          </a:xfrm>
          <a:prstGeom prst="ellipse">
            <a:avLst/>
          </a:prstGeom>
          <a:solidFill>
            <a:srgbClr val="47D4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ContextBroker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Ορθογώνιο: Στρογγύλεμα γωνιών 34">
            <a:extLst>
              <a:ext uri="{FF2B5EF4-FFF2-40B4-BE49-F238E27FC236}">
                <a16:creationId xmlns:a16="http://schemas.microsoft.com/office/drawing/2014/main" id="{5AF440B0-3D9D-84EA-E8DD-98E1267DC99A}"/>
              </a:ext>
            </a:extLst>
          </p:cNvPr>
          <p:cNvSpPr/>
          <p:nvPr/>
        </p:nvSpPr>
        <p:spPr>
          <a:xfrm>
            <a:off x="9039232" y="1824387"/>
            <a:ext cx="1559664" cy="35552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Ορθογώνιο: Στρογγύλεμα γωνιών 40">
            <a:extLst>
              <a:ext uri="{FF2B5EF4-FFF2-40B4-BE49-F238E27FC236}">
                <a16:creationId xmlns:a16="http://schemas.microsoft.com/office/drawing/2014/main" id="{A7745CFA-0FBD-EABC-EC92-22A45572ECC3}"/>
              </a:ext>
            </a:extLst>
          </p:cNvPr>
          <p:cNvSpPr/>
          <p:nvPr/>
        </p:nvSpPr>
        <p:spPr>
          <a:xfrm>
            <a:off x="10797698" y="176951"/>
            <a:ext cx="1268361" cy="499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Grafana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Ορθογώνιο: Στρογγύλεμα γωνιών 42">
            <a:extLst>
              <a:ext uri="{FF2B5EF4-FFF2-40B4-BE49-F238E27FC236}">
                <a16:creationId xmlns:a16="http://schemas.microsoft.com/office/drawing/2014/main" id="{F940203F-9ECA-61C4-DB33-6AB8DF2F95D5}"/>
              </a:ext>
            </a:extLst>
          </p:cNvPr>
          <p:cNvSpPr/>
          <p:nvPr/>
        </p:nvSpPr>
        <p:spPr>
          <a:xfrm>
            <a:off x="3915468" y="6263815"/>
            <a:ext cx="1263749" cy="464841"/>
          </a:xfrm>
          <a:prstGeom prst="roundRect">
            <a:avLst/>
          </a:prstGeom>
          <a:solidFill>
            <a:srgbClr val="AEAE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VMS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Ορθογώνιο: Στρογγύλεμα γωνιών 43">
            <a:extLst>
              <a:ext uri="{FF2B5EF4-FFF2-40B4-BE49-F238E27FC236}">
                <a16:creationId xmlns:a16="http://schemas.microsoft.com/office/drawing/2014/main" id="{C96277AC-D219-C5AD-A61C-92594454B6AB}"/>
              </a:ext>
            </a:extLst>
          </p:cNvPr>
          <p:cNvSpPr/>
          <p:nvPr/>
        </p:nvSpPr>
        <p:spPr>
          <a:xfrm>
            <a:off x="5335113" y="1543990"/>
            <a:ext cx="1012730" cy="8245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Ingestion point</a:t>
            </a:r>
            <a:endParaRPr kumimoji="0" lang="el-G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Ορθογώνιο: Στρογγύλεμα γωνιών 44">
            <a:extLst>
              <a:ext uri="{FF2B5EF4-FFF2-40B4-BE49-F238E27FC236}">
                <a16:creationId xmlns:a16="http://schemas.microsoft.com/office/drawing/2014/main" id="{EED0E60A-AA24-C3A2-CA95-B70EF669297C}"/>
              </a:ext>
            </a:extLst>
          </p:cNvPr>
          <p:cNvSpPr/>
          <p:nvPr/>
        </p:nvSpPr>
        <p:spPr>
          <a:xfrm>
            <a:off x="7872370" y="2948188"/>
            <a:ext cx="776749" cy="1307690"/>
          </a:xfrm>
          <a:prstGeom prst="roundRect">
            <a:avLst/>
          </a:prstGeom>
          <a:solidFill>
            <a:srgbClr val="E9A78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VLM/LLM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CA229E-7BF4-60AB-3D32-D61D30A86276}"/>
              </a:ext>
            </a:extLst>
          </p:cNvPr>
          <p:cNvSpPr txBox="1"/>
          <p:nvPr/>
        </p:nvSpPr>
        <p:spPr>
          <a:xfrm>
            <a:off x="9306837" y="1915973"/>
            <a:ext cx="116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Backend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460941-EC61-7005-8122-CE46A96C2799}"/>
              </a:ext>
            </a:extLst>
          </p:cNvPr>
          <p:cNvSpPr txBox="1"/>
          <p:nvPr/>
        </p:nvSpPr>
        <p:spPr>
          <a:xfrm>
            <a:off x="11127666" y="2415946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Front</a:t>
            </a:r>
            <a:endParaRPr kumimoji="0" lang="el-G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5" name="Ευθύγραμμο βέλος σύνδεσης 14">
            <a:extLst>
              <a:ext uri="{FF2B5EF4-FFF2-40B4-BE49-F238E27FC236}">
                <a16:creationId xmlns:a16="http://schemas.microsoft.com/office/drawing/2014/main" id="{3AD06173-6EF0-7798-ACF4-1D1EF370F482}"/>
              </a:ext>
            </a:extLst>
          </p:cNvPr>
          <p:cNvCxnSpPr>
            <a:cxnSpLocks/>
          </p:cNvCxnSpPr>
          <p:nvPr/>
        </p:nvCxnSpPr>
        <p:spPr>
          <a:xfrm flipV="1">
            <a:off x="1219200" y="1333408"/>
            <a:ext cx="0" cy="58993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Ευθύγραμμο βέλος σύνδεσης 47">
            <a:extLst>
              <a:ext uri="{FF2B5EF4-FFF2-40B4-BE49-F238E27FC236}">
                <a16:creationId xmlns:a16="http://schemas.microsoft.com/office/drawing/2014/main" id="{87FC3549-0590-546D-66D7-FEE05DDB7B44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3457908" y="2301697"/>
            <a:ext cx="7053" cy="63391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Ευθύγραμμο βέλος σύνδεσης 52">
            <a:extLst>
              <a:ext uri="{FF2B5EF4-FFF2-40B4-BE49-F238E27FC236}">
                <a16:creationId xmlns:a16="http://schemas.microsoft.com/office/drawing/2014/main" id="{C31FECD5-C186-2A45-4C91-B44387E0F916}"/>
              </a:ext>
            </a:extLst>
          </p:cNvPr>
          <p:cNvCxnSpPr>
            <a:cxnSpLocks/>
          </p:cNvCxnSpPr>
          <p:nvPr/>
        </p:nvCxnSpPr>
        <p:spPr>
          <a:xfrm flipV="1">
            <a:off x="4191116" y="1956270"/>
            <a:ext cx="0" cy="119745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Ευθύγραμμο βέλος σύνδεσης 53">
            <a:extLst>
              <a:ext uri="{FF2B5EF4-FFF2-40B4-BE49-F238E27FC236}">
                <a16:creationId xmlns:a16="http://schemas.microsoft.com/office/drawing/2014/main" id="{D85D4519-9274-780E-7F88-462EDCE65049}"/>
              </a:ext>
            </a:extLst>
          </p:cNvPr>
          <p:cNvCxnSpPr>
            <a:cxnSpLocks/>
            <a:stCxn id="44" idx="2"/>
            <a:endCxn id="30" idx="0"/>
          </p:cNvCxnSpPr>
          <p:nvPr/>
        </p:nvCxnSpPr>
        <p:spPr>
          <a:xfrm>
            <a:off x="5841478" y="2368551"/>
            <a:ext cx="7387" cy="102208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Ευθύγραμμο βέλος σύνδεσης 57">
            <a:extLst>
              <a:ext uri="{FF2B5EF4-FFF2-40B4-BE49-F238E27FC236}">
                <a16:creationId xmlns:a16="http://schemas.microsoft.com/office/drawing/2014/main" id="{52ED6B3B-DF8E-D07B-FF21-5D7E5F8E0F61}"/>
              </a:ext>
            </a:extLst>
          </p:cNvPr>
          <p:cNvCxnSpPr>
            <a:cxnSpLocks/>
          </p:cNvCxnSpPr>
          <p:nvPr/>
        </p:nvCxnSpPr>
        <p:spPr>
          <a:xfrm>
            <a:off x="4193931" y="1956270"/>
            <a:ext cx="1141182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Ευθύγραμμο βέλος σύνδεσης 62">
            <a:extLst>
              <a:ext uri="{FF2B5EF4-FFF2-40B4-BE49-F238E27FC236}">
                <a16:creationId xmlns:a16="http://schemas.microsoft.com/office/drawing/2014/main" id="{ACBA5792-C0D0-8E4B-CED6-71AAFCC69E27}"/>
              </a:ext>
            </a:extLst>
          </p:cNvPr>
          <p:cNvCxnSpPr>
            <a:cxnSpLocks/>
            <a:stCxn id="30" idx="4"/>
            <a:endCxn id="21" idx="0"/>
          </p:cNvCxnSpPr>
          <p:nvPr/>
        </p:nvCxnSpPr>
        <p:spPr>
          <a:xfrm>
            <a:off x="5848865" y="4255878"/>
            <a:ext cx="13775" cy="57879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Ευθύγραμμο βέλος σύνδεσης 108">
            <a:extLst>
              <a:ext uri="{FF2B5EF4-FFF2-40B4-BE49-F238E27FC236}">
                <a16:creationId xmlns:a16="http://schemas.microsoft.com/office/drawing/2014/main" id="{451BC9E1-BC33-E7C1-BBE6-EADB1152A4A2}"/>
              </a:ext>
            </a:extLst>
          </p:cNvPr>
          <p:cNvCxnSpPr>
            <a:cxnSpLocks/>
          </p:cNvCxnSpPr>
          <p:nvPr/>
        </p:nvCxnSpPr>
        <p:spPr>
          <a:xfrm flipV="1">
            <a:off x="7625714" y="4789405"/>
            <a:ext cx="1413518" cy="1029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Ευθύγραμμο βέλος σύνδεσης 131">
            <a:extLst>
              <a:ext uri="{FF2B5EF4-FFF2-40B4-BE49-F238E27FC236}">
                <a16:creationId xmlns:a16="http://schemas.microsoft.com/office/drawing/2014/main" id="{3670EDB7-29AC-9FCF-645B-0AF2C9505010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5831681" y="856958"/>
            <a:ext cx="9797" cy="68703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Ευθύγραμμο βέλος σύνδεσης 138">
            <a:extLst>
              <a:ext uri="{FF2B5EF4-FFF2-40B4-BE49-F238E27FC236}">
                <a16:creationId xmlns:a16="http://schemas.microsoft.com/office/drawing/2014/main" id="{92C2BCDF-D719-C9FF-185E-22ACF61476C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6318931" y="424339"/>
            <a:ext cx="4478767" cy="219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Ευθύγραμμο βέλος σύνδεσης 143">
            <a:extLst>
              <a:ext uri="{FF2B5EF4-FFF2-40B4-BE49-F238E27FC236}">
                <a16:creationId xmlns:a16="http://schemas.microsoft.com/office/drawing/2014/main" id="{82CCDCC8-E5A2-5C98-E51B-AC772EAD5EEB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1431879" y="676108"/>
            <a:ext cx="587" cy="160919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Ευθύγραμμο βέλος σύνδεσης 151">
            <a:extLst>
              <a:ext uri="{FF2B5EF4-FFF2-40B4-BE49-F238E27FC236}">
                <a16:creationId xmlns:a16="http://schemas.microsoft.com/office/drawing/2014/main" id="{58F8866D-E136-3BA9-7892-57A86DA30AB9}"/>
              </a:ext>
            </a:extLst>
          </p:cNvPr>
          <p:cNvCxnSpPr>
            <a:cxnSpLocks/>
          </p:cNvCxnSpPr>
          <p:nvPr/>
        </p:nvCxnSpPr>
        <p:spPr>
          <a:xfrm flipV="1">
            <a:off x="10064254" y="5376571"/>
            <a:ext cx="0" cy="23437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Ευθύγραμμο βέλος σύνδεσης 155">
            <a:extLst>
              <a:ext uri="{FF2B5EF4-FFF2-40B4-BE49-F238E27FC236}">
                <a16:creationId xmlns:a16="http://schemas.microsoft.com/office/drawing/2014/main" id="{590FF3EC-C323-C22B-77F7-334C2E4D042B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973465" y="6484599"/>
            <a:ext cx="2942003" cy="11637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Ευθύγραμμο βέλος σύνδεσης 158">
            <a:extLst>
              <a:ext uri="{FF2B5EF4-FFF2-40B4-BE49-F238E27FC236}">
                <a16:creationId xmlns:a16="http://schemas.microsoft.com/office/drawing/2014/main" id="{B0123549-ED32-2EE2-41C2-580690DADB0D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973465" y="6417739"/>
            <a:ext cx="2" cy="66860"/>
          </a:xfrm>
          <a:prstGeom prst="straightConnector1">
            <a:avLst/>
          </a:prstGeom>
          <a:ln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Ευθύγραμμο βέλος σύνδεσης 165">
            <a:extLst>
              <a:ext uri="{FF2B5EF4-FFF2-40B4-BE49-F238E27FC236}">
                <a16:creationId xmlns:a16="http://schemas.microsoft.com/office/drawing/2014/main" id="{4D639D31-D3A1-D5AE-9BEA-A96FBDC557A9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5179217" y="6470198"/>
            <a:ext cx="6217064" cy="26038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Ευθύγραμμο βέλος σύνδεσης 171">
            <a:extLst>
              <a:ext uri="{FF2B5EF4-FFF2-40B4-BE49-F238E27FC236}">
                <a16:creationId xmlns:a16="http://schemas.microsoft.com/office/drawing/2014/main" id="{9451904F-C873-A82B-3147-D591DEF2B31B}"/>
              </a:ext>
            </a:extLst>
          </p:cNvPr>
          <p:cNvCxnSpPr>
            <a:cxnSpLocks/>
          </p:cNvCxnSpPr>
          <p:nvPr/>
        </p:nvCxnSpPr>
        <p:spPr>
          <a:xfrm flipV="1">
            <a:off x="11406297" y="3661152"/>
            <a:ext cx="0" cy="2809046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Ευθύγραμμο βέλος σύνδεσης 180">
            <a:extLst>
              <a:ext uri="{FF2B5EF4-FFF2-40B4-BE49-F238E27FC236}">
                <a16:creationId xmlns:a16="http://schemas.microsoft.com/office/drawing/2014/main" id="{CC30E778-7286-326A-04B7-73F231BC5C7A}"/>
              </a:ext>
            </a:extLst>
          </p:cNvPr>
          <p:cNvCxnSpPr>
            <a:cxnSpLocks/>
            <a:endCxn id="21" idx="4"/>
          </p:cNvCxnSpPr>
          <p:nvPr/>
        </p:nvCxnSpPr>
        <p:spPr>
          <a:xfrm flipV="1">
            <a:off x="5862640" y="5825307"/>
            <a:ext cx="0" cy="807530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Ευθύγραμμο βέλος σύνδεσης 188">
            <a:extLst>
              <a:ext uri="{FF2B5EF4-FFF2-40B4-BE49-F238E27FC236}">
                <a16:creationId xmlns:a16="http://schemas.microsoft.com/office/drawing/2014/main" id="{8586058A-4F96-EAAD-39F8-82805AB94CB5}"/>
              </a:ext>
            </a:extLst>
          </p:cNvPr>
          <p:cNvCxnSpPr>
            <a:cxnSpLocks/>
          </p:cNvCxnSpPr>
          <p:nvPr/>
        </p:nvCxnSpPr>
        <p:spPr>
          <a:xfrm>
            <a:off x="5848865" y="6632837"/>
            <a:ext cx="5857995" cy="0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32DA8889-910A-FB40-CE35-491DEC0C328D}"/>
              </a:ext>
            </a:extLst>
          </p:cNvPr>
          <p:cNvSpPr txBox="1"/>
          <p:nvPr/>
        </p:nvSpPr>
        <p:spPr>
          <a:xfrm>
            <a:off x="5357565" y="4320509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498EC90-FAE7-AB9C-535C-E3C61DAA1D1C}"/>
              </a:ext>
            </a:extLst>
          </p:cNvPr>
          <p:cNvSpPr txBox="1"/>
          <p:nvPr/>
        </p:nvSpPr>
        <p:spPr>
          <a:xfrm>
            <a:off x="2934019" y="4004658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5179F22-01F9-EF67-7B87-FCB0B7ACA5BB}"/>
              </a:ext>
            </a:extLst>
          </p:cNvPr>
          <p:cNvSpPr txBox="1"/>
          <p:nvPr/>
        </p:nvSpPr>
        <p:spPr>
          <a:xfrm>
            <a:off x="2032812" y="3418551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05E40C79-44DD-9C6D-2AC5-392A4DE82B38}"/>
              </a:ext>
            </a:extLst>
          </p:cNvPr>
          <p:cNvSpPr txBox="1"/>
          <p:nvPr/>
        </p:nvSpPr>
        <p:spPr>
          <a:xfrm>
            <a:off x="2831634" y="2343556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AC087085-F502-937E-C566-F849A7D0663C}"/>
              </a:ext>
            </a:extLst>
          </p:cNvPr>
          <p:cNvSpPr txBox="1"/>
          <p:nvPr/>
        </p:nvSpPr>
        <p:spPr>
          <a:xfrm>
            <a:off x="4191116" y="2013527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0597A40-F0FA-5586-A961-EA57DA609814}"/>
              </a:ext>
            </a:extLst>
          </p:cNvPr>
          <p:cNvSpPr txBox="1"/>
          <p:nvPr/>
        </p:nvSpPr>
        <p:spPr>
          <a:xfrm>
            <a:off x="5820765" y="2482999"/>
            <a:ext cx="97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EFE860C-ADD8-8E89-46B6-2B6D9B79E441}"/>
              </a:ext>
            </a:extLst>
          </p:cNvPr>
          <p:cNvSpPr txBox="1"/>
          <p:nvPr/>
        </p:nvSpPr>
        <p:spPr>
          <a:xfrm>
            <a:off x="8163550" y="113431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2C8108A-A56D-C40E-BD43-24CABE7BCAFC}"/>
              </a:ext>
            </a:extLst>
          </p:cNvPr>
          <p:cNvSpPr txBox="1"/>
          <p:nvPr/>
        </p:nvSpPr>
        <p:spPr>
          <a:xfrm>
            <a:off x="11431878" y="1066790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57A713E-CFCE-91C4-B9AE-D8E1263A8334}"/>
              </a:ext>
            </a:extLst>
          </p:cNvPr>
          <p:cNvSpPr txBox="1"/>
          <p:nvPr/>
        </p:nvSpPr>
        <p:spPr>
          <a:xfrm>
            <a:off x="10562809" y="3153728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60D9A18-A42F-EA04-8384-DEBC0335DD72}"/>
              </a:ext>
            </a:extLst>
          </p:cNvPr>
          <p:cNvSpPr txBox="1"/>
          <p:nvPr/>
        </p:nvSpPr>
        <p:spPr>
          <a:xfrm>
            <a:off x="6864948" y="5665608"/>
            <a:ext cx="764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WebRTC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FF320D7-99E5-D12E-0914-E20E1B9C726A}"/>
              </a:ext>
            </a:extLst>
          </p:cNvPr>
          <p:cNvSpPr txBox="1"/>
          <p:nvPr/>
        </p:nvSpPr>
        <p:spPr>
          <a:xfrm>
            <a:off x="5848864" y="4300532"/>
            <a:ext cx="699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NGSI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5941EBC-57BB-9585-2B33-73FFC6269707}"/>
              </a:ext>
            </a:extLst>
          </p:cNvPr>
          <p:cNvSpPr txBox="1"/>
          <p:nvPr/>
        </p:nvSpPr>
        <p:spPr>
          <a:xfrm>
            <a:off x="11075328" y="6578520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Θέση περιεχομένου 6">
            <a:extLst>
              <a:ext uri="{FF2B5EF4-FFF2-40B4-BE49-F238E27FC236}">
                <a16:creationId xmlns:a16="http://schemas.microsoft.com/office/drawing/2014/main" id="{E419B825-17D6-5E2D-A1E2-730E9DF858F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670865" y="4957395"/>
            <a:ext cx="817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Sensor Streams</a:t>
            </a:r>
            <a:endParaRPr lang="el-GR" sz="1200" dirty="0">
              <a:solidFill>
                <a:srgbClr val="FF0000"/>
              </a:solidFill>
            </a:endParaRPr>
          </a:p>
        </p:txBody>
      </p:sp>
      <p:sp>
        <p:nvSpPr>
          <p:cNvPr id="232" name="Θέση περιεχομένου 6">
            <a:extLst>
              <a:ext uri="{FF2B5EF4-FFF2-40B4-BE49-F238E27FC236}">
                <a16:creationId xmlns:a16="http://schemas.microsoft.com/office/drawing/2014/main" id="{FD9B1FE3-4A70-72E9-5A91-E12AA62B10E9}"/>
              </a:ext>
            </a:extLst>
          </p:cNvPr>
          <p:cNvSpPr txBox="1">
            <a:spLocks/>
          </p:cNvSpPr>
          <p:nvPr/>
        </p:nvSpPr>
        <p:spPr>
          <a:xfrm>
            <a:off x="5152899" y="2355068"/>
            <a:ext cx="738089" cy="45957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Sensor Streams</a:t>
            </a:r>
            <a:endParaRPr lang="el-GR" sz="1200" dirty="0">
              <a:solidFill>
                <a:srgbClr val="FF0000"/>
              </a:solidFill>
            </a:endParaRPr>
          </a:p>
        </p:txBody>
      </p:sp>
      <p:sp>
        <p:nvSpPr>
          <p:cNvPr id="234" name="Θέση περιεχομένου 6">
            <a:extLst>
              <a:ext uri="{FF2B5EF4-FFF2-40B4-BE49-F238E27FC236}">
                <a16:creationId xmlns:a16="http://schemas.microsoft.com/office/drawing/2014/main" id="{520D7569-A8AD-0935-0F27-F3C307B1EE05}"/>
              </a:ext>
            </a:extLst>
          </p:cNvPr>
          <p:cNvSpPr txBox="1">
            <a:spLocks/>
          </p:cNvSpPr>
          <p:nvPr/>
        </p:nvSpPr>
        <p:spPr>
          <a:xfrm>
            <a:off x="5200550" y="1110953"/>
            <a:ext cx="849201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Sensor Streams</a:t>
            </a:r>
            <a:endParaRPr lang="el-GR" sz="1200" dirty="0">
              <a:solidFill>
                <a:srgbClr val="FF0000"/>
              </a:solidFill>
            </a:endParaRPr>
          </a:p>
        </p:txBody>
      </p:sp>
      <p:sp>
        <p:nvSpPr>
          <p:cNvPr id="235" name="Θέση περιεχομένου 6">
            <a:extLst>
              <a:ext uri="{FF2B5EF4-FFF2-40B4-BE49-F238E27FC236}">
                <a16:creationId xmlns:a16="http://schemas.microsoft.com/office/drawing/2014/main" id="{7300B582-0B14-64D6-F7DC-8B89312CE982}"/>
              </a:ext>
            </a:extLst>
          </p:cNvPr>
          <p:cNvSpPr txBox="1">
            <a:spLocks/>
          </p:cNvSpPr>
          <p:nvPr/>
        </p:nvSpPr>
        <p:spPr>
          <a:xfrm>
            <a:off x="4164322" y="2239402"/>
            <a:ext cx="743305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Sensor Streams</a:t>
            </a:r>
            <a:endParaRPr lang="el-GR" sz="1200" dirty="0">
              <a:solidFill>
                <a:srgbClr val="FF0000"/>
              </a:solidFill>
            </a:endParaRPr>
          </a:p>
        </p:txBody>
      </p:sp>
      <p:sp>
        <p:nvSpPr>
          <p:cNvPr id="236" name="Θέση περιεχομένου 6">
            <a:extLst>
              <a:ext uri="{FF2B5EF4-FFF2-40B4-BE49-F238E27FC236}">
                <a16:creationId xmlns:a16="http://schemas.microsoft.com/office/drawing/2014/main" id="{3C5EC0F7-C0DF-06F4-82F0-EFADCC6114B3}"/>
              </a:ext>
            </a:extLst>
          </p:cNvPr>
          <p:cNvSpPr txBox="1">
            <a:spLocks/>
          </p:cNvSpPr>
          <p:nvPr/>
        </p:nvSpPr>
        <p:spPr>
          <a:xfrm>
            <a:off x="1998929" y="2694589"/>
            <a:ext cx="769094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Sensor Streams</a:t>
            </a:r>
            <a:endParaRPr lang="el-GR" sz="1200" dirty="0">
              <a:solidFill>
                <a:srgbClr val="FF0000"/>
              </a:solidFill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5CCD437-D976-F9ED-9FAD-3CEC5F3BB63E}"/>
              </a:ext>
            </a:extLst>
          </p:cNvPr>
          <p:cNvSpPr txBox="1"/>
          <p:nvPr/>
        </p:nvSpPr>
        <p:spPr>
          <a:xfrm>
            <a:off x="1855504" y="6031496"/>
            <a:ext cx="866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Video Stream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5350E16-F081-7437-F6E0-AC8354AB1F82}"/>
              </a:ext>
            </a:extLst>
          </p:cNvPr>
          <p:cNvSpPr txBox="1"/>
          <p:nvPr/>
        </p:nvSpPr>
        <p:spPr>
          <a:xfrm>
            <a:off x="8388920" y="5643971"/>
            <a:ext cx="764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Frames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55CE1FC-9B28-FA94-AFB7-CBB20A26A8C0}"/>
              </a:ext>
            </a:extLst>
          </p:cNvPr>
          <p:cNvSpPr txBox="1"/>
          <p:nvPr/>
        </p:nvSpPr>
        <p:spPr>
          <a:xfrm>
            <a:off x="6688955" y="5072586"/>
            <a:ext cx="10532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Notifications</a:t>
            </a:r>
            <a:endParaRPr lang="el-GR" sz="120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AFAD2D3B-13BB-2E5D-8814-10ED2B713026}"/>
              </a:ext>
            </a:extLst>
          </p:cNvPr>
          <p:cNvSpPr txBox="1"/>
          <p:nvPr/>
        </p:nvSpPr>
        <p:spPr>
          <a:xfrm>
            <a:off x="5874157" y="4641476"/>
            <a:ext cx="8975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Notifications</a:t>
            </a:r>
            <a:endParaRPr lang="el-GR" sz="10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2E3C6E7-08F6-7441-F467-424E1F0DF4CE}"/>
              </a:ext>
            </a:extLst>
          </p:cNvPr>
          <p:cNvSpPr txBox="1"/>
          <p:nvPr/>
        </p:nvSpPr>
        <p:spPr>
          <a:xfrm>
            <a:off x="1873732" y="3661152"/>
            <a:ext cx="1025860" cy="66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Caretaker Messages/AI answers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B0C61945-1BCC-418F-D54A-47F39C929744}"/>
              </a:ext>
            </a:extLst>
          </p:cNvPr>
          <p:cNvSpPr txBox="1"/>
          <p:nvPr/>
        </p:nvSpPr>
        <p:spPr>
          <a:xfrm>
            <a:off x="3578867" y="4021313"/>
            <a:ext cx="1192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Caretaker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Messages/AI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answers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99C00B1A-563E-4443-3742-D3EF85C42532}"/>
              </a:ext>
            </a:extLst>
          </p:cNvPr>
          <p:cNvSpPr txBox="1"/>
          <p:nvPr/>
        </p:nvSpPr>
        <p:spPr>
          <a:xfrm>
            <a:off x="3485820" y="2267008"/>
            <a:ext cx="718460" cy="668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GPS/Text from speech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9" name="Θέση περιεχομένου 6">
            <a:extLst>
              <a:ext uri="{FF2B5EF4-FFF2-40B4-BE49-F238E27FC236}">
                <a16:creationId xmlns:a16="http://schemas.microsoft.com/office/drawing/2014/main" id="{780101F0-3A06-D305-D465-A2D61977164C}"/>
              </a:ext>
            </a:extLst>
          </p:cNvPr>
          <p:cNvSpPr txBox="1">
            <a:spLocks/>
          </p:cNvSpPr>
          <p:nvPr/>
        </p:nvSpPr>
        <p:spPr>
          <a:xfrm>
            <a:off x="11453420" y="649288"/>
            <a:ext cx="849201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Sensor Streams</a:t>
            </a:r>
            <a:endParaRPr lang="el-GR" sz="1200" dirty="0">
              <a:solidFill>
                <a:srgbClr val="FF0000"/>
              </a:solidFill>
            </a:endParaRPr>
          </a:p>
        </p:txBody>
      </p:sp>
      <p:sp>
        <p:nvSpPr>
          <p:cNvPr id="250" name="Θέση περιεχομένου 6">
            <a:extLst>
              <a:ext uri="{FF2B5EF4-FFF2-40B4-BE49-F238E27FC236}">
                <a16:creationId xmlns:a16="http://schemas.microsoft.com/office/drawing/2014/main" id="{3B610070-0574-9AB9-6AC6-61F035C9792B}"/>
              </a:ext>
            </a:extLst>
          </p:cNvPr>
          <p:cNvSpPr txBox="1">
            <a:spLocks/>
          </p:cNvSpPr>
          <p:nvPr/>
        </p:nvSpPr>
        <p:spPr>
          <a:xfrm>
            <a:off x="6938029" y="125942"/>
            <a:ext cx="1268361" cy="27699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Sensor Streams</a:t>
            </a:r>
            <a:endParaRPr lang="el-GR" sz="1200" dirty="0">
              <a:solidFill>
                <a:srgbClr val="FF0000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EF5C1AD-B494-A76F-A8CF-58D76D8E4AB4}"/>
              </a:ext>
            </a:extLst>
          </p:cNvPr>
          <p:cNvSpPr txBox="1"/>
          <p:nvPr/>
        </p:nvSpPr>
        <p:spPr>
          <a:xfrm>
            <a:off x="10504509" y="5374713"/>
            <a:ext cx="720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Users’ Info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C39705C9-87E8-43D4-19D6-0F1953CBA437}"/>
              </a:ext>
            </a:extLst>
          </p:cNvPr>
          <p:cNvSpPr txBox="1"/>
          <p:nvPr/>
        </p:nvSpPr>
        <p:spPr>
          <a:xfrm>
            <a:off x="8005655" y="4386654"/>
            <a:ext cx="968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 Queries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3" name="Ευθύγραμμο βέλος σύνδεσης 252">
            <a:extLst>
              <a:ext uri="{FF2B5EF4-FFF2-40B4-BE49-F238E27FC236}">
                <a16:creationId xmlns:a16="http://schemas.microsoft.com/office/drawing/2014/main" id="{6A1E624A-9669-8385-0E79-9DCD9D1DF231}"/>
              </a:ext>
            </a:extLst>
          </p:cNvPr>
          <p:cNvCxnSpPr>
            <a:cxnSpLocks/>
          </p:cNvCxnSpPr>
          <p:nvPr/>
        </p:nvCxnSpPr>
        <p:spPr>
          <a:xfrm flipV="1">
            <a:off x="4547342" y="5925885"/>
            <a:ext cx="4834430" cy="16722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Ευθύγραμμο βέλος σύνδεσης 255">
            <a:extLst>
              <a:ext uri="{FF2B5EF4-FFF2-40B4-BE49-F238E27FC236}">
                <a16:creationId xmlns:a16="http://schemas.microsoft.com/office/drawing/2014/main" id="{FEE1728A-6D39-8CB0-DCF6-B896AD71530D}"/>
              </a:ext>
            </a:extLst>
          </p:cNvPr>
          <p:cNvCxnSpPr>
            <a:cxnSpLocks/>
          </p:cNvCxnSpPr>
          <p:nvPr/>
        </p:nvCxnSpPr>
        <p:spPr>
          <a:xfrm flipV="1">
            <a:off x="9381772" y="5364864"/>
            <a:ext cx="0" cy="55610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3CFFD226-4F67-7413-9840-2092C41801E9}"/>
              </a:ext>
            </a:extLst>
          </p:cNvPr>
          <p:cNvSpPr txBox="1"/>
          <p:nvPr/>
        </p:nvSpPr>
        <p:spPr>
          <a:xfrm>
            <a:off x="8248884" y="6280908"/>
            <a:ext cx="764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WebRTC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DA454948-7F90-381A-EA71-CF141EC037A9}"/>
              </a:ext>
            </a:extLst>
          </p:cNvPr>
          <p:cNvSpPr txBox="1"/>
          <p:nvPr/>
        </p:nvSpPr>
        <p:spPr>
          <a:xfrm>
            <a:off x="7634803" y="6106059"/>
            <a:ext cx="866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Video Stream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Οβάλ 3">
            <a:extLst>
              <a:ext uri="{FF2B5EF4-FFF2-40B4-BE49-F238E27FC236}">
                <a16:creationId xmlns:a16="http://schemas.microsoft.com/office/drawing/2014/main" id="{EE2AD647-123A-46D7-A3A7-2B6CBC5D4B23}"/>
              </a:ext>
            </a:extLst>
          </p:cNvPr>
          <p:cNvSpPr/>
          <p:nvPr/>
        </p:nvSpPr>
        <p:spPr>
          <a:xfrm>
            <a:off x="2537354" y="2935607"/>
            <a:ext cx="1841107" cy="9906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 Broker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" name="Ευθύγραμμο βέλος σύνδεσης 9">
            <a:extLst>
              <a:ext uri="{FF2B5EF4-FFF2-40B4-BE49-F238E27FC236}">
                <a16:creationId xmlns:a16="http://schemas.microsoft.com/office/drawing/2014/main" id="{1662384C-CB5D-32E7-8B70-EF757AD41EFE}"/>
              </a:ext>
            </a:extLst>
          </p:cNvPr>
          <p:cNvCxnSpPr>
            <a:cxnSpLocks/>
          </p:cNvCxnSpPr>
          <p:nvPr/>
        </p:nvCxnSpPr>
        <p:spPr>
          <a:xfrm>
            <a:off x="2082800" y="2152026"/>
            <a:ext cx="53818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Ευθύγραμμο βέλος σύνδεσης 33">
            <a:extLst>
              <a:ext uri="{FF2B5EF4-FFF2-40B4-BE49-F238E27FC236}">
                <a16:creationId xmlns:a16="http://schemas.microsoft.com/office/drawing/2014/main" id="{00918CC6-7132-39A6-B9DF-BDE2ACD9A5E0}"/>
              </a:ext>
            </a:extLst>
          </p:cNvPr>
          <p:cNvCxnSpPr>
            <a:cxnSpLocks/>
          </p:cNvCxnSpPr>
          <p:nvPr/>
        </p:nvCxnSpPr>
        <p:spPr>
          <a:xfrm>
            <a:off x="7636819" y="4809948"/>
            <a:ext cx="7325" cy="515874"/>
          </a:xfrm>
          <a:prstGeom prst="straightConnector1">
            <a:avLst/>
          </a:prstGeom>
          <a:ln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Ευθύγραμμο βέλος σύνδεσης 41">
            <a:extLst>
              <a:ext uri="{FF2B5EF4-FFF2-40B4-BE49-F238E27FC236}">
                <a16:creationId xmlns:a16="http://schemas.microsoft.com/office/drawing/2014/main" id="{365EB2CA-A227-B7BA-6F07-45BA5BB707F0}"/>
              </a:ext>
            </a:extLst>
          </p:cNvPr>
          <p:cNvCxnSpPr>
            <a:cxnSpLocks/>
            <a:endCxn id="21" idx="6"/>
          </p:cNvCxnSpPr>
          <p:nvPr/>
        </p:nvCxnSpPr>
        <p:spPr>
          <a:xfrm flipH="1">
            <a:off x="6783193" y="5319333"/>
            <a:ext cx="864747" cy="10657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Ευθύγραμμο βέλος σύνδεσης 77">
            <a:extLst>
              <a:ext uri="{FF2B5EF4-FFF2-40B4-BE49-F238E27FC236}">
                <a16:creationId xmlns:a16="http://schemas.microsoft.com/office/drawing/2014/main" id="{DDDE4646-788C-64DB-BB98-169EA6586212}"/>
              </a:ext>
            </a:extLst>
          </p:cNvPr>
          <p:cNvCxnSpPr>
            <a:cxnSpLocks/>
          </p:cNvCxnSpPr>
          <p:nvPr/>
        </p:nvCxnSpPr>
        <p:spPr>
          <a:xfrm flipH="1" flipV="1">
            <a:off x="11706860" y="3661152"/>
            <a:ext cx="2882" cy="297168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43CB690-940B-1D12-2CBF-4A6CE55B7AB5}"/>
              </a:ext>
            </a:extLst>
          </p:cNvPr>
          <p:cNvSpPr txBox="1"/>
          <p:nvPr/>
        </p:nvSpPr>
        <p:spPr>
          <a:xfrm>
            <a:off x="1979495" y="1818641"/>
            <a:ext cx="531759" cy="28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Wi-Fi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Ορθογώνιο: Στρογγύλεμα γωνιών 92">
            <a:extLst>
              <a:ext uri="{FF2B5EF4-FFF2-40B4-BE49-F238E27FC236}">
                <a16:creationId xmlns:a16="http://schemas.microsoft.com/office/drawing/2014/main" id="{37F9C1A5-7E0A-58F8-015E-B656BD88D4B2}"/>
              </a:ext>
            </a:extLst>
          </p:cNvPr>
          <p:cNvSpPr/>
          <p:nvPr/>
        </p:nvSpPr>
        <p:spPr>
          <a:xfrm>
            <a:off x="2744351" y="328822"/>
            <a:ext cx="1172892" cy="17737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2" name="Ορθογώνιο: Στρογγύλεμα γωνιών 91">
            <a:extLst>
              <a:ext uri="{FF2B5EF4-FFF2-40B4-BE49-F238E27FC236}">
                <a16:creationId xmlns:a16="http://schemas.microsoft.com/office/drawing/2014/main" id="{0E9CD7B0-F2D3-833A-702B-5BE1950238BC}"/>
              </a:ext>
            </a:extLst>
          </p:cNvPr>
          <p:cNvSpPr/>
          <p:nvPr/>
        </p:nvSpPr>
        <p:spPr>
          <a:xfrm>
            <a:off x="2824162" y="543890"/>
            <a:ext cx="496503" cy="26443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GPS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Ορθογώνιο: Στρογγύλεμα γωνιών 93">
            <a:extLst>
              <a:ext uri="{FF2B5EF4-FFF2-40B4-BE49-F238E27FC236}">
                <a16:creationId xmlns:a16="http://schemas.microsoft.com/office/drawing/2014/main" id="{C9C96A6C-3953-B2FC-C079-976F7A2F4553}"/>
              </a:ext>
            </a:extLst>
          </p:cNvPr>
          <p:cNvSpPr/>
          <p:nvPr/>
        </p:nvSpPr>
        <p:spPr>
          <a:xfrm>
            <a:off x="3139645" y="1067222"/>
            <a:ext cx="718460" cy="37876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VOICE REC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5" name="Ευθύγραμμο βέλος σύνδεσης 94">
            <a:extLst>
              <a:ext uri="{FF2B5EF4-FFF2-40B4-BE49-F238E27FC236}">
                <a16:creationId xmlns:a16="http://schemas.microsoft.com/office/drawing/2014/main" id="{5095B1F9-4654-1BC8-DE35-A18AF35687A3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4547342" y="5935227"/>
            <a:ext cx="1" cy="328588"/>
          </a:xfrm>
          <a:prstGeom prst="straightConnector1">
            <a:avLst/>
          </a:prstGeom>
          <a:ln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Ορθογώνιο: Στρογγύλεμα γωνιών 101">
            <a:extLst>
              <a:ext uri="{FF2B5EF4-FFF2-40B4-BE49-F238E27FC236}">
                <a16:creationId xmlns:a16="http://schemas.microsoft.com/office/drawing/2014/main" id="{F65A21F4-99B1-7006-ABDD-487A18EE7DAF}"/>
              </a:ext>
            </a:extLst>
          </p:cNvPr>
          <p:cNvSpPr/>
          <p:nvPr/>
        </p:nvSpPr>
        <p:spPr>
          <a:xfrm>
            <a:off x="359301" y="5665608"/>
            <a:ext cx="1230854" cy="55798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VIDEO STREAMING</a:t>
            </a:r>
            <a:endParaRPr kumimoji="0" lang="el-G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8" name="Ευθύγραμμο βέλος σύνδεσης 107">
            <a:extLst>
              <a:ext uri="{FF2B5EF4-FFF2-40B4-BE49-F238E27FC236}">
                <a16:creationId xmlns:a16="http://schemas.microsoft.com/office/drawing/2014/main" id="{6983E915-3AFC-C260-3C89-7507959A1810}"/>
              </a:ext>
            </a:extLst>
          </p:cNvPr>
          <p:cNvCxnSpPr>
            <a:stCxn id="14" idx="2"/>
          </p:cNvCxnSpPr>
          <p:nvPr/>
        </p:nvCxnSpPr>
        <p:spPr>
          <a:xfrm flipH="1">
            <a:off x="973465" y="2823458"/>
            <a:ext cx="1" cy="285356"/>
          </a:xfrm>
          <a:prstGeom prst="straightConnector1">
            <a:avLst/>
          </a:prstGeom>
          <a:ln>
            <a:solidFill>
              <a:schemeClr val="bg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Ευθύγραμμο βέλος σύνδεσης 128">
            <a:extLst>
              <a:ext uri="{FF2B5EF4-FFF2-40B4-BE49-F238E27FC236}">
                <a16:creationId xmlns:a16="http://schemas.microsoft.com/office/drawing/2014/main" id="{32DF0B25-E7B5-93F1-AF8F-29C25A5E60F1}"/>
              </a:ext>
            </a:extLst>
          </p:cNvPr>
          <p:cNvCxnSpPr>
            <a:cxnSpLocks/>
          </p:cNvCxnSpPr>
          <p:nvPr/>
        </p:nvCxnSpPr>
        <p:spPr>
          <a:xfrm flipV="1">
            <a:off x="1764530" y="2584857"/>
            <a:ext cx="0" cy="1467078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Ευθύγραμμο βέλος σύνδεσης 137">
            <a:extLst>
              <a:ext uri="{FF2B5EF4-FFF2-40B4-BE49-F238E27FC236}">
                <a16:creationId xmlns:a16="http://schemas.microsoft.com/office/drawing/2014/main" id="{5C3DA35E-4AE5-7537-1475-CC869C220EC8}"/>
              </a:ext>
            </a:extLst>
          </p:cNvPr>
          <p:cNvCxnSpPr>
            <a:cxnSpLocks/>
          </p:cNvCxnSpPr>
          <p:nvPr/>
        </p:nvCxnSpPr>
        <p:spPr>
          <a:xfrm flipH="1">
            <a:off x="1669624" y="4057650"/>
            <a:ext cx="90596" cy="0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Ευθύγραμμο βέλος σύνδεσης 144">
            <a:extLst>
              <a:ext uri="{FF2B5EF4-FFF2-40B4-BE49-F238E27FC236}">
                <a16:creationId xmlns:a16="http://schemas.microsoft.com/office/drawing/2014/main" id="{685D4323-5BE0-1565-F8E3-B7DF337D3DFA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1556608" y="2585054"/>
            <a:ext cx="206899" cy="0"/>
          </a:xfrm>
          <a:prstGeom prst="straightConnector1">
            <a:avLst/>
          </a:prstGeom>
          <a:ln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Ευθύγραμμο βέλος σύνδεσης 147">
            <a:extLst>
              <a:ext uri="{FF2B5EF4-FFF2-40B4-BE49-F238E27FC236}">
                <a16:creationId xmlns:a16="http://schemas.microsoft.com/office/drawing/2014/main" id="{7AEF8376-6B46-CF13-502B-11DF35ECC61C}"/>
              </a:ext>
            </a:extLst>
          </p:cNvPr>
          <p:cNvCxnSpPr>
            <a:cxnSpLocks/>
          </p:cNvCxnSpPr>
          <p:nvPr/>
        </p:nvCxnSpPr>
        <p:spPr>
          <a:xfrm>
            <a:off x="1550753" y="2393447"/>
            <a:ext cx="272584" cy="0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Ευθύγραμμο βέλος σύνδεσης 153">
            <a:extLst>
              <a:ext uri="{FF2B5EF4-FFF2-40B4-BE49-F238E27FC236}">
                <a16:creationId xmlns:a16="http://schemas.microsoft.com/office/drawing/2014/main" id="{E942B2E0-7EC0-811E-30FB-3EA41CD78B71}"/>
              </a:ext>
            </a:extLst>
          </p:cNvPr>
          <p:cNvCxnSpPr>
            <a:cxnSpLocks/>
          </p:cNvCxnSpPr>
          <p:nvPr/>
        </p:nvCxnSpPr>
        <p:spPr>
          <a:xfrm>
            <a:off x="1836627" y="2393447"/>
            <a:ext cx="251253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 w="lg" len="lg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Ευθύγραμμο βέλος σύνδεσης 160">
            <a:extLst>
              <a:ext uri="{FF2B5EF4-FFF2-40B4-BE49-F238E27FC236}">
                <a16:creationId xmlns:a16="http://schemas.microsoft.com/office/drawing/2014/main" id="{9C29A4A8-5C60-B0DB-60BB-C3F0D4736AB8}"/>
              </a:ext>
            </a:extLst>
          </p:cNvPr>
          <p:cNvCxnSpPr>
            <a:cxnSpLocks/>
          </p:cNvCxnSpPr>
          <p:nvPr/>
        </p:nvCxnSpPr>
        <p:spPr>
          <a:xfrm flipV="1">
            <a:off x="2082800" y="2152026"/>
            <a:ext cx="0" cy="241421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Ευθύγραμμο βέλος σύνδεσης 166">
            <a:extLst>
              <a:ext uri="{FF2B5EF4-FFF2-40B4-BE49-F238E27FC236}">
                <a16:creationId xmlns:a16="http://schemas.microsoft.com/office/drawing/2014/main" id="{9A903DF2-D425-FA71-DB04-BC0795DF1D87}"/>
              </a:ext>
            </a:extLst>
          </p:cNvPr>
          <p:cNvCxnSpPr>
            <a:cxnSpLocks/>
          </p:cNvCxnSpPr>
          <p:nvPr/>
        </p:nvCxnSpPr>
        <p:spPr>
          <a:xfrm flipV="1">
            <a:off x="2081351" y="2393447"/>
            <a:ext cx="0" cy="100679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Ευθύγραμμο βέλος σύνδεσης 172">
            <a:extLst>
              <a:ext uri="{FF2B5EF4-FFF2-40B4-BE49-F238E27FC236}">
                <a16:creationId xmlns:a16="http://schemas.microsoft.com/office/drawing/2014/main" id="{7B17FAF3-1AFD-FB03-1917-75B8F992ADDE}"/>
              </a:ext>
            </a:extLst>
          </p:cNvPr>
          <p:cNvCxnSpPr>
            <a:cxnSpLocks/>
          </p:cNvCxnSpPr>
          <p:nvPr/>
        </p:nvCxnSpPr>
        <p:spPr>
          <a:xfrm>
            <a:off x="2078355" y="3414613"/>
            <a:ext cx="462131" cy="233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Ορθογώνιο: Στρογγύλεμα γωνιών 196">
            <a:extLst>
              <a:ext uri="{FF2B5EF4-FFF2-40B4-BE49-F238E27FC236}">
                <a16:creationId xmlns:a16="http://schemas.microsoft.com/office/drawing/2014/main" id="{1E8FF517-913B-4AD3-05EB-014A40BC89A0}"/>
              </a:ext>
            </a:extLst>
          </p:cNvPr>
          <p:cNvSpPr/>
          <p:nvPr/>
        </p:nvSpPr>
        <p:spPr>
          <a:xfrm>
            <a:off x="7675350" y="1720241"/>
            <a:ext cx="1175310" cy="7209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MCP Server</a:t>
            </a: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07" name="Ευθύγραμμο βέλος σύνδεσης 206">
            <a:extLst>
              <a:ext uri="{FF2B5EF4-FFF2-40B4-BE49-F238E27FC236}">
                <a16:creationId xmlns:a16="http://schemas.microsoft.com/office/drawing/2014/main" id="{75815610-14DD-A0B4-9211-D991D7B64C8D}"/>
              </a:ext>
            </a:extLst>
          </p:cNvPr>
          <p:cNvCxnSpPr>
            <a:stCxn id="197" idx="2"/>
            <a:endCxn id="45" idx="0"/>
          </p:cNvCxnSpPr>
          <p:nvPr/>
        </p:nvCxnSpPr>
        <p:spPr>
          <a:xfrm flipH="1">
            <a:off x="8260745" y="2441227"/>
            <a:ext cx="2260" cy="50696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Ορθογώνιο 207">
            <a:extLst>
              <a:ext uri="{FF2B5EF4-FFF2-40B4-BE49-F238E27FC236}">
                <a16:creationId xmlns:a16="http://schemas.microsoft.com/office/drawing/2014/main" id="{2CAAE701-33E6-7996-BF53-F03FCA140277}"/>
              </a:ext>
            </a:extLst>
          </p:cNvPr>
          <p:cNvSpPr/>
          <p:nvPr/>
        </p:nvSpPr>
        <p:spPr>
          <a:xfrm>
            <a:off x="7493021" y="1445366"/>
            <a:ext cx="1510691" cy="1184393"/>
          </a:xfrm>
          <a:prstGeom prst="rect">
            <a:avLst/>
          </a:prstGeom>
          <a:solidFill>
            <a:schemeClr val="bg2">
              <a:lumMod val="50000"/>
              <a:alpha val="6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18555F98-E145-7185-15C5-0BD4FC5EE33B}"/>
              </a:ext>
            </a:extLst>
          </p:cNvPr>
          <p:cNvSpPr txBox="1"/>
          <p:nvPr/>
        </p:nvSpPr>
        <p:spPr>
          <a:xfrm>
            <a:off x="8568026" y="3252002"/>
            <a:ext cx="552300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40" name="Ευθύγραμμο βέλος σύνδεσης 239">
            <a:extLst>
              <a:ext uri="{FF2B5EF4-FFF2-40B4-BE49-F238E27FC236}">
                <a16:creationId xmlns:a16="http://schemas.microsoft.com/office/drawing/2014/main" id="{B6238E72-37BD-81E3-1456-6FC5F5BB83FE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>
            <a:off x="8649119" y="3602033"/>
            <a:ext cx="390113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Ορθογώνιο: Στρογγύλεμα γωνιών 245">
            <a:extLst>
              <a:ext uri="{FF2B5EF4-FFF2-40B4-BE49-F238E27FC236}">
                <a16:creationId xmlns:a16="http://schemas.microsoft.com/office/drawing/2014/main" id="{580CA788-9CA8-9324-6E53-482D9003D8A9}"/>
              </a:ext>
            </a:extLst>
          </p:cNvPr>
          <p:cNvSpPr/>
          <p:nvPr/>
        </p:nvSpPr>
        <p:spPr>
          <a:xfrm>
            <a:off x="9229559" y="4728388"/>
            <a:ext cx="732483" cy="629973"/>
          </a:xfrm>
          <a:prstGeom prst="roundRect">
            <a:avLst/>
          </a:prstGeom>
          <a:solidFill>
            <a:srgbClr val="AEAE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8" name="Ευθύγραμμο βέλος σύνδεσης 257">
            <a:extLst>
              <a:ext uri="{FF2B5EF4-FFF2-40B4-BE49-F238E27FC236}">
                <a16:creationId xmlns:a16="http://schemas.microsoft.com/office/drawing/2014/main" id="{9C8D9223-10EB-09C8-8CF9-C5B90AAB37D1}"/>
              </a:ext>
            </a:extLst>
          </p:cNvPr>
          <p:cNvCxnSpPr>
            <a:cxnSpLocks/>
          </p:cNvCxnSpPr>
          <p:nvPr/>
        </p:nvCxnSpPr>
        <p:spPr>
          <a:xfrm flipH="1">
            <a:off x="3464961" y="4612751"/>
            <a:ext cx="5574271" cy="8909"/>
          </a:xfrm>
          <a:prstGeom prst="straightConnector1">
            <a:avLst/>
          </a:prstGeom>
          <a:ln>
            <a:headEnd type="triangle" w="lg" len="lg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Ευθύγραμμο βέλος σύνδεσης 266">
            <a:extLst>
              <a:ext uri="{FF2B5EF4-FFF2-40B4-BE49-F238E27FC236}">
                <a16:creationId xmlns:a16="http://schemas.microsoft.com/office/drawing/2014/main" id="{5AF0A12D-DF36-A79C-CE04-7FC8A0AEB4A4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3457907" y="3926241"/>
            <a:ext cx="1" cy="69715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017DF2A8-D3E0-14FA-9759-FD24AAEA1BDE}"/>
              </a:ext>
            </a:extLst>
          </p:cNvPr>
          <p:cNvSpPr txBox="1"/>
          <p:nvPr/>
        </p:nvSpPr>
        <p:spPr>
          <a:xfrm>
            <a:off x="6424768" y="6567724"/>
            <a:ext cx="10532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Notifications</a:t>
            </a:r>
            <a:endParaRPr lang="el-GR" sz="1200" dirty="0"/>
          </a:p>
        </p:txBody>
      </p:sp>
      <p:sp>
        <p:nvSpPr>
          <p:cNvPr id="298" name="Ορθογώνιο: Στρογγύλεμα γωνιών 297">
            <a:extLst>
              <a:ext uri="{FF2B5EF4-FFF2-40B4-BE49-F238E27FC236}">
                <a16:creationId xmlns:a16="http://schemas.microsoft.com/office/drawing/2014/main" id="{1BDD5029-4900-6DDA-9347-95A2FDC416E2}"/>
              </a:ext>
            </a:extLst>
          </p:cNvPr>
          <p:cNvSpPr/>
          <p:nvPr/>
        </p:nvSpPr>
        <p:spPr>
          <a:xfrm>
            <a:off x="9833317" y="3265086"/>
            <a:ext cx="765579" cy="36933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Node.js 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00" name="Ευθύγραμμο βέλος σύνδεσης 299">
            <a:extLst>
              <a:ext uri="{FF2B5EF4-FFF2-40B4-BE49-F238E27FC236}">
                <a16:creationId xmlns:a16="http://schemas.microsoft.com/office/drawing/2014/main" id="{E66AFF52-737A-39D5-0B4A-8FE4ADE59B23}"/>
              </a:ext>
            </a:extLst>
          </p:cNvPr>
          <p:cNvCxnSpPr>
            <a:cxnSpLocks/>
          </p:cNvCxnSpPr>
          <p:nvPr/>
        </p:nvCxnSpPr>
        <p:spPr>
          <a:xfrm flipV="1">
            <a:off x="9439284" y="3976925"/>
            <a:ext cx="0" cy="744935"/>
          </a:xfrm>
          <a:prstGeom prst="straightConnector1">
            <a:avLst/>
          </a:prstGeom>
          <a:ln w="22225">
            <a:solidFill>
              <a:schemeClr val="bg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Ευθεία γραμμή σύνδεσης 311">
            <a:extLst>
              <a:ext uri="{FF2B5EF4-FFF2-40B4-BE49-F238E27FC236}">
                <a16:creationId xmlns:a16="http://schemas.microsoft.com/office/drawing/2014/main" id="{95C06B81-10D5-22D6-83B0-FF0D01978A3C}"/>
              </a:ext>
            </a:extLst>
          </p:cNvPr>
          <p:cNvCxnSpPr>
            <a:cxnSpLocks/>
          </p:cNvCxnSpPr>
          <p:nvPr/>
        </p:nvCxnSpPr>
        <p:spPr>
          <a:xfrm>
            <a:off x="9167747" y="3976925"/>
            <a:ext cx="0" cy="620583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Ευθύγραμμο βέλος σύνδεσης 313">
            <a:extLst>
              <a:ext uri="{FF2B5EF4-FFF2-40B4-BE49-F238E27FC236}">
                <a16:creationId xmlns:a16="http://schemas.microsoft.com/office/drawing/2014/main" id="{C791D6AF-DD53-E4F1-C540-B1E0551C3707}"/>
              </a:ext>
            </a:extLst>
          </p:cNvPr>
          <p:cNvCxnSpPr>
            <a:cxnSpLocks/>
          </p:cNvCxnSpPr>
          <p:nvPr/>
        </p:nvCxnSpPr>
        <p:spPr>
          <a:xfrm flipH="1">
            <a:off x="9039232" y="4597508"/>
            <a:ext cx="12953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Ευθύγραμμο βέλος σύνδεσης 318">
            <a:extLst>
              <a:ext uri="{FF2B5EF4-FFF2-40B4-BE49-F238E27FC236}">
                <a16:creationId xmlns:a16="http://schemas.microsoft.com/office/drawing/2014/main" id="{A5834E8C-381F-9644-7A2A-E540BF05412F}"/>
              </a:ext>
            </a:extLst>
          </p:cNvPr>
          <p:cNvCxnSpPr>
            <a:cxnSpLocks/>
          </p:cNvCxnSpPr>
          <p:nvPr/>
        </p:nvCxnSpPr>
        <p:spPr>
          <a:xfrm flipV="1">
            <a:off x="6318931" y="601379"/>
            <a:ext cx="3500133" cy="7701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Ευθύγραμμο βέλος σύνδεσης 320">
            <a:extLst>
              <a:ext uri="{FF2B5EF4-FFF2-40B4-BE49-F238E27FC236}">
                <a16:creationId xmlns:a16="http://schemas.microsoft.com/office/drawing/2014/main" id="{8688228A-3855-3365-8F86-171C3386B8E6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9819064" y="605821"/>
            <a:ext cx="0" cy="121856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7EB3B093-A254-D296-80BA-540B23CC97B0}"/>
              </a:ext>
            </a:extLst>
          </p:cNvPr>
          <p:cNvSpPr txBox="1"/>
          <p:nvPr/>
        </p:nvSpPr>
        <p:spPr>
          <a:xfrm>
            <a:off x="9246034" y="580967"/>
            <a:ext cx="661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1" name="Ορθογώνιο: Στρογγύλεμα γωνιών 330">
            <a:extLst>
              <a:ext uri="{FF2B5EF4-FFF2-40B4-BE49-F238E27FC236}">
                <a16:creationId xmlns:a16="http://schemas.microsoft.com/office/drawing/2014/main" id="{67DDC68B-1B87-64BD-2770-1732EE46785C}"/>
              </a:ext>
            </a:extLst>
          </p:cNvPr>
          <p:cNvSpPr/>
          <p:nvPr/>
        </p:nvSpPr>
        <p:spPr>
          <a:xfrm>
            <a:off x="9039232" y="3018988"/>
            <a:ext cx="591552" cy="95064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96000"/>
            </a:schemeClr>
          </a:solidFill>
          <a:ln cap="rnd">
            <a:solidFill>
              <a:schemeClr val="accent1">
                <a:shade val="15000"/>
                <a:alpha val="96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733F2D40-3CD8-8093-0B93-C9C1CDA88E2C}"/>
              </a:ext>
            </a:extLst>
          </p:cNvPr>
          <p:cNvSpPr txBox="1"/>
          <p:nvPr/>
        </p:nvSpPr>
        <p:spPr>
          <a:xfrm>
            <a:off x="8937134" y="3167244"/>
            <a:ext cx="771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GATEWAY/PROXY</a:t>
            </a:r>
            <a:endParaRPr kumimoji="0" lang="el-G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9CA38F27-B235-C4FF-98AA-0D91779C6E5A}"/>
              </a:ext>
            </a:extLst>
          </p:cNvPr>
          <p:cNvSpPr txBox="1"/>
          <p:nvPr/>
        </p:nvSpPr>
        <p:spPr>
          <a:xfrm>
            <a:off x="9166919" y="4782875"/>
            <a:ext cx="8542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prstClr val="white"/>
                </a:solidFill>
              </a:rPr>
              <a:t>VIDEO </a:t>
            </a:r>
            <a:r>
              <a:rPr lang="en-US" sz="1000" dirty="0">
                <a:solidFill>
                  <a:prstClr val="white"/>
                </a:solidFill>
              </a:rPr>
              <a:t>INGESTION</a:t>
            </a:r>
            <a:endParaRPr lang="el-GR" sz="1000" dirty="0">
              <a:solidFill>
                <a:prstClr val="white"/>
              </a:solidFill>
            </a:endParaRPr>
          </a:p>
        </p:txBody>
      </p:sp>
      <p:cxnSp>
        <p:nvCxnSpPr>
          <p:cNvPr id="338" name="Ευθεία γραμμή σύνδεσης 337">
            <a:extLst>
              <a:ext uri="{FF2B5EF4-FFF2-40B4-BE49-F238E27FC236}">
                <a16:creationId xmlns:a16="http://schemas.microsoft.com/office/drawing/2014/main" id="{8EA70709-5EB7-D5BC-EA22-4A6DBDFC1A90}"/>
              </a:ext>
            </a:extLst>
          </p:cNvPr>
          <p:cNvCxnSpPr>
            <a:cxnSpLocks/>
          </p:cNvCxnSpPr>
          <p:nvPr/>
        </p:nvCxnSpPr>
        <p:spPr>
          <a:xfrm>
            <a:off x="9013068" y="4789405"/>
            <a:ext cx="13330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Ευθεία γραμμή σύνδεσης 342">
            <a:extLst>
              <a:ext uri="{FF2B5EF4-FFF2-40B4-BE49-F238E27FC236}">
                <a16:creationId xmlns:a16="http://schemas.microsoft.com/office/drawing/2014/main" id="{604ED6AF-9787-C2FA-9D19-75D6CB7C9213}"/>
              </a:ext>
            </a:extLst>
          </p:cNvPr>
          <p:cNvCxnSpPr>
            <a:cxnSpLocks/>
          </p:cNvCxnSpPr>
          <p:nvPr/>
        </p:nvCxnSpPr>
        <p:spPr>
          <a:xfrm flipV="1">
            <a:off x="9134475" y="4667644"/>
            <a:ext cx="0" cy="1217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Ευθεία γραμμή σύνδεσης 345">
            <a:extLst>
              <a:ext uri="{FF2B5EF4-FFF2-40B4-BE49-F238E27FC236}">
                <a16:creationId xmlns:a16="http://schemas.microsoft.com/office/drawing/2014/main" id="{BC4940B2-6A02-4938-C6EB-950862FA7B74}"/>
              </a:ext>
            </a:extLst>
          </p:cNvPr>
          <p:cNvCxnSpPr>
            <a:cxnSpLocks/>
          </p:cNvCxnSpPr>
          <p:nvPr/>
        </p:nvCxnSpPr>
        <p:spPr>
          <a:xfrm>
            <a:off x="9130665" y="4667644"/>
            <a:ext cx="11601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Ευθύγραμμο βέλος σύνδεσης 352">
            <a:extLst>
              <a:ext uri="{FF2B5EF4-FFF2-40B4-BE49-F238E27FC236}">
                <a16:creationId xmlns:a16="http://schemas.microsoft.com/office/drawing/2014/main" id="{69905537-170E-D7E3-B152-C1188B961F54}"/>
              </a:ext>
            </a:extLst>
          </p:cNvPr>
          <p:cNvCxnSpPr>
            <a:cxnSpLocks/>
          </p:cNvCxnSpPr>
          <p:nvPr/>
        </p:nvCxnSpPr>
        <p:spPr>
          <a:xfrm flipV="1">
            <a:off x="10298820" y="3596640"/>
            <a:ext cx="0" cy="1074536"/>
          </a:xfrm>
          <a:prstGeom prst="straightConnector1">
            <a:avLst/>
          </a:prstGeom>
          <a:ln w="22225">
            <a:solidFill>
              <a:schemeClr val="bg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Ευθεία γραμμή σύνδεσης 354">
            <a:extLst>
              <a:ext uri="{FF2B5EF4-FFF2-40B4-BE49-F238E27FC236}">
                <a16:creationId xmlns:a16="http://schemas.microsoft.com/office/drawing/2014/main" id="{78353E30-A80A-F38E-3EC6-0FB6395C23A6}"/>
              </a:ext>
            </a:extLst>
          </p:cNvPr>
          <p:cNvCxnSpPr>
            <a:cxnSpLocks/>
            <a:stCxn id="35" idx="0"/>
          </p:cNvCxnSpPr>
          <p:nvPr/>
        </p:nvCxnSpPr>
        <p:spPr>
          <a:xfrm>
            <a:off x="9819064" y="1824387"/>
            <a:ext cx="0" cy="10635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Ευθεία γραμμή σύνδεσης 358">
            <a:extLst>
              <a:ext uri="{FF2B5EF4-FFF2-40B4-BE49-F238E27FC236}">
                <a16:creationId xmlns:a16="http://schemas.microsoft.com/office/drawing/2014/main" id="{7BE43344-58D5-04CB-6AEB-1B8502E752F7}"/>
              </a:ext>
            </a:extLst>
          </p:cNvPr>
          <p:cNvCxnSpPr>
            <a:cxnSpLocks/>
          </p:cNvCxnSpPr>
          <p:nvPr/>
        </p:nvCxnSpPr>
        <p:spPr>
          <a:xfrm>
            <a:off x="9811062" y="2878455"/>
            <a:ext cx="434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Ευθεία γραμμή σύνδεσης 363">
            <a:extLst>
              <a:ext uri="{FF2B5EF4-FFF2-40B4-BE49-F238E27FC236}">
                <a16:creationId xmlns:a16="http://schemas.microsoft.com/office/drawing/2014/main" id="{A7DB0A7B-9B02-AB22-6C8B-06DFC625730B}"/>
              </a:ext>
            </a:extLst>
          </p:cNvPr>
          <p:cNvCxnSpPr>
            <a:cxnSpLocks/>
          </p:cNvCxnSpPr>
          <p:nvPr/>
        </p:nvCxnSpPr>
        <p:spPr>
          <a:xfrm>
            <a:off x="10243185" y="2876550"/>
            <a:ext cx="0" cy="369570"/>
          </a:xfrm>
          <a:prstGeom prst="line">
            <a:avLst/>
          </a:prstGeom>
          <a:ln>
            <a:solidFill>
              <a:schemeClr val="bg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Ευθύγραμμο βέλος σύνδεσης 366">
            <a:extLst>
              <a:ext uri="{FF2B5EF4-FFF2-40B4-BE49-F238E27FC236}">
                <a16:creationId xmlns:a16="http://schemas.microsoft.com/office/drawing/2014/main" id="{6205CE0E-D64B-06F8-37F3-7C85A3994CBE}"/>
              </a:ext>
            </a:extLst>
          </p:cNvPr>
          <p:cNvCxnSpPr>
            <a:cxnSpLocks/>
            <a:stCxn id="13" idx="2"/>
            <a:endCxn id="102" idx="2"/>
          </p:cNvCxnSpPr>
          <p:nvPr/>
        </p:nvCxnSpPr>
        <p:spPr>
          <a:xfrm flipV="1">
            <a:off x="973467" y="6223589"/>
            <a:ext cx="1261" cy="194150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B45A78E2-CC2A-DC3F-AA90-745B92EFEC67}"/>
              </a:ext>
            </a:extLst>
          </p:cNvPr>
          <p:cNvSpPr/>
          <p:nvPr/>
        </p:nvSpPr>
        <p:spPr>
          <a:xfrm>
            <a:off x="2824664" y="1621007"/>
            <a:ext cx="495500" cy="29496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</a:rPr>
              <a:t>TTS</a:t>
            </a:r>
            <a:endParaRPr kumimoji="0" lang="el-G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2BE1E-86E0-CF78-5399-F5D62B22DCC2}"/>
              </a:ext>
            </a:extLst>
          </p:cNvPr>
          <p:cNvSpPr txBox="1"/>
          <p:nvPr/>
        </p:nvSpPr>
        <p:spPr>
          <a:xfrm>
            <a:off x="3331409" y="402941"/>
            <a:ext cx="652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</a:t>
            </a:r>
            <a:endParaRPr lang="el-GR" dirty="0"/>
          </a:p>
        </p:txBody>
      </p:sp>
      <p:cxnSp>
        <p:nvCxnSpPr>
          <p:cNvPr id="38" name="Ευθύγραμμο βέλος σύνδεσης 37">
            <a:extLst>
              <a:ext uri="{FF2B5EF4-FFF2-40B4-BE49-F238E27FC236}">
                <a16:creationId xmlns:a16="http://schemas.microsoft.com/office/drawing/2014/main" id="{81864E86-846A-2E13-AF29-589D455056A0}"/>
              </a:ext>
            </a:extLst>
          </p:cNvPr>
          <p:cNvCxnSpPr>
            <a:cxnSpLocks/>
          </p:cNvCxnSpPr>
          <p:nvPr/>
        </p:nvCxnSpPr>
        <p:spPr>
          <a:xfrm>
            <a:off x="3327608" y="2295486"/>
            <a:ext cx="0" cy="62993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Γραφικό 54" descr="Γυαλιά με συμπαγές γέμισμα">
            <a:extLst>
              <a:ext uri="{FF2B5EF4-FFF2-40B4-BE49-F238E27FC236}">
                <a16:creationId xmlns:a16="http://schemas.microsoft.com/office/drawing/2014/main" id="{17C5C41A-6EDB-C212-4BE4-8D47BA851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86" y="611975"/>
            <a:ext cx="1882859" cy="1079827"/>
          </a:xfrm>
          <a:prstGeom prst="rect">
            <a:avLst/>
          </a:prstGeom>
        </p:spPr>
      </p:pic>
      <p:pic>
        <p:nvPicPr>
          <p:cNvPr id="59" name="Γραφικό 58" descr="Βιντεοκάμερα με συμπαγές γέμισμα">
            <a:extLst>
              <a:ext uri="{FF2B5EF4-FFF2-40B4-BE49-F238E27FC236}">
                <a16:creationId xmlns:a16="http://schemas.microsoft.com/office/drawing/2014/main" id="{DE7EA41E-BD85-23CD-1C8F-0DB46B850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9785" y="5923093"/>
            <a:ext cx="511823" cy="511823"/>
          </a:xfrm>
          <a:prstGeom prst="rect">
            <a:avLst/>
          </a:prstGeom>
        </p:spPr>
      </p:pic>
      <p:pic>
        <p:nvPicPr>
          <p:cNvPr id="66" name="Γραφικό 65" descr="Smartphone με συμπαγές γέμισμα">
            <a:extLst>
              <a:ext uri="{FF2B5EF4-FFF2-40B4-BE49-F238E27FC236}">
                <a16:creationId xmlns:a16="http://schemas.microsoft.com/office/drawing/2014/main" id="{03EAAC0E-2A48-4CED-59E1-1BF2DF98C7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01702" y="10644"/>
            <a:ext cx="2870128" cy="2421648"/>
          </a:xfrm>
          <a:prstGeom prst="rect">
            <a:avLst/>
          </a:prstGeom>
        </p:spPr>
      </p:pic>
      <p:cxnSp>
        <p:nvCxnSpPr>
          <p:cNvPr id="5" name="Ευθύγραμμο βέλος σύνδεσης 4">
            <a:extLst>
              <a:ext uri="{FF2B5EF4-FFF2-40B4-BE49-F238E27FC236}">
                <a16:creationId xmlns:a16="http://schemas.microsoft.com/office/drawing/2014/main" id="{0314FB69-35E0-A0CF-8186-5F36ED1B69B8}"/>
              </a:ext>
            </a:extLst>
          </p:cNvPr>
          <p:cNvCxnSpPr>
            <a:cxnSpLocks/>
          </p:cNvCxnSpPr>
          <p:nvPr/>
        </p:nvCxnSpPr>
        <p:spPr>
          <a:xfrm>
            <a:off x="2640533" y="2152026"/>
            <a:ext cx="691055" cy="0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Ευθύγραμμο βέλος σύνδεσης 28">
            <a:extLst>
              <a:ext uri="{FF2B5EF4-FFF2-40B4-BE49-F238E27FC236}">
                <a16:creationId xmlns:a16="http://schemas.microsoft.com/office/drawing/2014/main" id="{F1FFC192-5BAD-19E8-E6F8-C6E70EDDBBA6}"/>
              </a:ext>
            </a:extLst>
          </p:cNvPr>
          <p:cNvCxnSpPr>
            <a:cxnSpLocks/>
          </p:cNvCxnSpPr>
          <p:nvPr/>
        </p:nvCxnSpPr>
        <p:spPr>
          <a:xfrm flipH="1" flipV="1">
            <a:off x="3330752" y="2152026"/>
            <a:ext cx="836" cy="143460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AC7E4CE-54D0-A9C1-AFD8-E83913238D01}"/>
              </a:ext>
            </a:extLst>
          </p:cNvPr>
          <p:cNvSpPr txBox="1"/>
          <p:nvPr/>
        </p:nvSpPr>
        <p:spPr>
          <a:xfrm>
            <a:off x="9115406" y="5911576"/>
            <a:ext cx="103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SQlite</a:t>
            </a:r>
            <a:endParaRPr lang="el-GR" dirty="0"/>
          </a:p>
        </p:txBody>
      </p:sp>
      <p:pic>
        <p:nvPicPr>
          <p:cNvPr id="68" name="Γραφικό 67" descr="Βάση δεδομένων με συμπαγές γέμισμα">
            <a:extLst>
              <a:ext uri="{FF2B5EF4-FFF2-40B4-BE49-F238E27FC236}">
                <a16:creationId xmlns:a16="http://schemas.microsoft.com/office/drawing/2014/main" id="{BC8C4588-EDB7-7B59-BD2F-8E2B7ABA2A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32618" y="5525331"/>
            <a:ext cx="871890" cy="871890"/>
          </a:xfrm>
          <a:prstGeom prst="rect">
            <a:avLst/>
          </a:prstGeom>
        </p:spPr>
      </p:pic>
      <p:pic>
        <p:nvPicPr>
          <p:cNvPr id="69" name="Γραφικό 68" descr="Βάση δεδομένων με συμπαγές γέμισμα">
            <a:extLst>
              <a:ext uri="{FF2B5EF4-FFF2-40B4-BE49-F238E27FC236}">
                <a16:creationId xmlns:a16="http://schemas.microsoft.com/office/drawing/2014/main" id="{DE797862-907E-0FD2-E15C-39672321B6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0194" y="110502"/>
            <a:ext cx="871890" cy="87189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5FD057EC-416A-CCE3-F775-A95D8B4524B4}"/>
              </a:ext>
            </a:extLst>
          </p:cNvPr>
          <p:cNvSpPr txBox="1"/>
          <p:nvPr/>
        </p:nvSpPr>
        <p:spPr>
          <a:xfrm>
            <a:off x="4675595" y="318526"/>
            <a:ext cx="1274553" cy="374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rtl="0" eaLnBrk="1" fontAlgn="auto" latinLnBrk="0" hangingPunct="1">
              <a:buNone/>
            </a:pPr>
            <a:r>
              <a:rPr lang="en-US" sz="1800" b="0" i="0" kern="1200" spc="0" baseline="0" dirty="0" err="1">
                <a:ln>
                  <a:noFill/>
                </a:ln>
                <a:effectLst/>
                <a:latin typeface="Aptos" panose="020B0004020202020204" pitchFamily="34" charset="0"/>
                <a:ea typeface="+mn-ea"/>
                <a:cs typeface="+mn-cs"/>
              </a:rPr>
              <a:t>InfluxDB</a:t>
            </a:r>
            <a:endParaRPr lang="el-GR" dirty="0">
              <a:effectLst/>
            </a:endParaRPr>
          </a:p>
        </p:txBody>
      </p:sp>
      <p:pic>
        <p:nvPicPr>
          <p:cNvPr id="76" name="Γραφικό 75" descr="Προγραμματιστής αρσενικό με συμπαγές γέμισμα">
            <a:extLst>
              <a:ext uri="{FF2B5EF4-FFF2-40B4-BE49-F238E27FC236}">
                <a16:creationId xmlns:a16="http://schemas.microsoft.com/office/drawing/2014/main" id="{27BE0F02-6985-C734-C26A-1FD8CAEAEF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83275" y="2199035"/>
            <a:ext cx="1203474" cy="1498306"/>
          </a:xfrm>
          <a:prstGeom prst="rect">
            <a:avLst/>
          </a:prstGeom>
        </p:spPr>
      </p:pic>
      <p:cxnSp>
        <p:nvCxnSpPr>
          <p:cNvPr id="211" name="Ευθύγραμμο βέλος σύνδεσης 210">
            <a:extLst>
              <a:ext uri="{FF2B5EF4-FFF2-40B4-BE49-F238E27FC236}">
                <a16:creationId xmlns:a16="http://schemas.microsoft.com/office/drawing/2014/main" id="{4088E71B-5B23-4581-CE7F-8506169DFCDD}"/>
              </a:ext>
            </a:extLst>
          </p:cNvPr>
          <p:cNvCxnSpPr>
            <a:cxnSpLocks/>
          </p:cNvCxnSpPr>
          <p:nvPr/>
        </p:nvCxnSpPr>
        <p:spPr>
          <a:xfrm>
            <a:off x="10594910" y="3469094"/>
            <a:ext cx="629837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A85FF30-2341-8DA6-8C72-65EF4D27C06C}"/>
              </a:ext>
            </a:extLst>
          </p:cNvPr>
          <p:cNvSpPr txBox="1"/>
          <p:nvPr/>
        </p:nvSpPr>
        <p:spPr>
          <a:xfrm>
            <a:off x="11004453" y="3766577"/>
            <a:ext cx="75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</a:t>
            </a:r>
            <a:endParaRPr lang="el-GR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54DA6E1-A22D-8006-B02C-B3EE9F8F2CF0}"/>
              </a:ext>
            </a:extLst>
          </p:cNvPr>
          <p:cNvSpPr txBox="1"/>
          <p:nvPr/>
        </p:nvSpPr>
        <p:spPr>
          <a:xfrm>
            <a:off x="448276" y="561949"/>
            <a:ext cx="10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Glasses</a:t>
            </a:r>
            <a:endParaRPr lang="el-GR" dirty="0"/>
          </a:p>
        </p:txBody>
      </p:sp>
      <p:cxnSp>
        <p:nvCxnSpPr>
          <p:cNvPr id="89" name="Ευθύγραμμο βέλος σύνδεσης 88">
            <a:extLst>
              <a:ext uri="{FF2B5EF4-FFF2-40B4-BE49-F238E27FC236}">
                <a16:creationId xmlns:a16="http://schemas.microsoft.com/office/drawing/2014/main" id="{5472CD51-7FC1-9B23-1EC3-1419956EC815}"/>
              </a:ext>
            </a:extLst>
          </p:cNvPr>
          <p:cNvCxnSpPr>
            <a:cxnSpLocks/>
          </p:cNvCxnSpPr>
          <p:nvPr/>
        </p:nvCxnSpPr>
        <p:spPr>
          <a:xfrm flipH="1">
            <a:off x="192405" y="5930803"/>
            <a:ext cx="188199" cy="0"/>
          </a:xfrm>
          <a:prstGeom prst="straightConnector1">
            <a:avLst/>
          </a:prstGeom>
          <a:ln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Ευθύγραμμο βέλος σύνδεσης 89">
            <a:extLst>
              <a:ext uri="{FF2B5EF4-FFF2-40B4-BE49-F238E27FC236}">
                <a16:creationId xmlns:a16="http://schemas.microsoft.com/office/drawing/2014/main" id="{368BF3E3-4938-60EB-8331-EFBF1A736723}"/>
              </a:ext>
            </a:extLst>
          </p:cNvPr>
          <p:cNvCxnSpPr>
            <a:cxnSpLocks/>
          </p:cNvCxnSpPr>
          <p:nvPr/>
        </p:nvCxnSpPr>
        <p:spPr>
          <a:xfrm flipV="1">
            <a:off x="200234" y="3416434"/>
            <a:ext cx="0" cy="2504536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Ευθύγραμμο βέλος σύνδεσης 98">
            <a:extLst>
              <a:ext uri="{FF2B5EF4-FFF2-40B4-BE49-F238E27FC236}">
                <a16:creationId xmlns:a16="http://schemas.microsoft.com/office/drawing/2014/main" id="{85861A03-5E8F-826D-DFAD-2A1535F01E38}"/>
              </a:ext>
            </a:extLst>
          </p:cNvPr>
          <p:cNvCxnSpPr>
            <a:cxnSpLocks/>
          </p:cNvCxnSpPr>
          <p:nvPr/>
        </p:nvCxnSpPr>
        <p:spPr>
          <a:xfrm flipH="1">
            <a:off x="192405" y="3418551"/>
            <a:ext cx="188199" cy="0"/>
          </a:xfrm>
          <a:prstGeom prst="straightConnector1">
            <a:avLst/>
          </a:prstGeom>
          <a:ln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Ευθύγραμμο βέλος σύνδεσης 11">
            <a:extLst>
              <a:ext uri="{FF2B5EF4-FFF2-40B4-BE49-F238E27FC236}">
                <a16:creationId xmlns:a16="http://schemas.microsoft.com/office/drawing/2014/main" id="{A05E4575-2F21-F871-0806-93A52D13039E}"/>
              </a:ext>
            </a:extLst>
          </p:cNvPr>
          <p:cNvCxnSpPr>
            <a:cxnSpLocks/>
          </p:cNvCxnSpPr>
          <p:nvPr/>
        </p:nvCxnSpPr>
        <p:spPr>
          <a:xfrm>
            <a:off x="3464961" y="2042160"/>
            <a:ext cx="0" cy="280749"/>
          </a:xfrm>
          <a:prstGeom prst="straightConnector1">
            <a:avLst/>
          </a:prstGeom>
          <a:ln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332111-5EAC-E652-30BA-D8010316198F}"/>
              </a:ext>
            </a:extLst>
          </p:cNvPr>
          <p:cNvSpPr txBox="1"/>
          <p:nvPr/>
        </p:nvSpPr>
        <p:spPr>
          <a:xfrm>
            <a:off x="4658356" y="4584466"/>
            <a:ext cx="1033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Sensor Streams</a:t>
            </a:r>
            <a:endParaRPr lang="el-GR" sz="1200" dirty="0">
              <a:solidFill>
                <a:srgbClr val="FF0000"/>
              </a:solidFill>
            </a:endParaRPr>
          </a:p>
        </p:txBody>
      </p:sp>
      <p:cxnSp>
        <p:nvCxnSpPr>
          <p:cNvPr id="6" name="Ευθύγραμμο βέλος σύνδεσης 5">
            <a:extLst>
              <a:ext uri="{FF2B5EF4-FFF2-40B4-BE49-F238E27FC236}">
                <a16:creationId xmlns:a16="http://schemas.microsoft.com/office/drawing/2014/main" id="{F94EE9AF-E943-38AF-8E4D-79B044B452AF}"/>
              </a:ext>
            </a:extLst>
          </p:cNvPr>
          <p:cNvCxnSpPr>
            <a:cxnSpLocks/>
          </p:cNvCxnSpPr>
          <p:nvPr/>
        </p:nvCxnSpPr>
        <p:spPr>
          <a:xfrm flipH="1">
            <a:off x="135255" y="5067760"/>
            <a:ext cx="245349" cy="0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Ευθύγραμμο βέλος σύνδεσης 21">
            <a:extLst>
              <a:ext uri="{FF2B5EF4-FFF2-40B4-BE49-F238E27FC236}">
                <a16:creationId xmlns:a16="http://schemas.microsoft.com/office/drawing/2014/main" id="{1187A795-C877-6193-1056-E8B33904F144}"/>
              </a:ext>
            </a:extLst>
          </p:cNvPr>
          <p:cNvCxnSpPr>
            <a:cxnSpLocks/>
          </p:cNvCxnSpPr>
          <p:nvPr/>
        </p:nvCxnSpPr>
        <p:spPr>
          <a:xfrm flipV="1">
            <a:off x="139592" y="2572512"/>
            <a:ext cx="0" cy="2500074"/>
          </a:xfrm>
          <a:prstGeom prst="straightConnector1">
            <a:avLst/>
          </a:prstGeom>
          <a:ln>
            <a:solidFill>
              <a:schemeClr val="bg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Ευθύγραμμο βέλος σύνδεσης 24">
            <a:extLst>
              <a:ext uri="{FF2B5EF4-FFF2-40B4-BE49-F238E27FC236}">
                <a16:creationId xmlns:a16="http://schemas.microsoft.com/office/drawing/2014/main" id="{45BEBFE8-7BF5-93A5-2493-403051FCCFD6}"/>
              </a:ext>
            </a:extLst>
          </p:cNvPr>
          <p:cNvCxnSpPr>
            <a:cxnSpLocks/>
          </p:cNvCxnSpPr>
          <p:nvPr/>
        </p:nvCxnSpPr>
        <p:spPr>
          <a:xfrm flipH="1">
            <a:off x="135255" y="2580261"/>
            <a:ext cx="255068" cy="0"/>
          </a:xfrm>
          <a:prstGeom prst="straightConnector1">
            <a:avLst/>
          </a:prstGeom>
          <a:ln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51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0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A33F5-6B0A-2FFF-5864-AB6C01B69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E7F952-F68E-1750-2741-07E008B4E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502DE4-636D-DA8B-E050-D95F86194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CCBE21-9C5A-88E2-4B00-2777AB7CC812}"/>
              </a:ext>
            </a:extLst>
          </p:cNvPr>
          <p:cNvSpPr txBox="1"/>
          <p:nvPr/>
        </p:nvSpPr>
        <p:spPr>
          <a:xfrm>
            <a:off x="-3051" y="300569"/>
            <a:ext cx="9375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GLASSES CONTROLLER</a:t>
            </a:r>
            <a:endParaRPr lang="el-GR" sz="2800" dirty="0">
              <a:latin typeface="Georgia" panose="020405020504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A774A0-DB8C-DE92-E8E3-E3D8913E4EB1}"/>
              </a:ext>
            </a:extLst>
          </p:cNvPr>
          <p:cNvSpPr txBox="1"/>
          <p:nvPr/>
        </p:nvSpPr>
        <p:spPr>
          <a:xfrm>
            <a:off x="769270" y="970470"/>
            <a:ext cx="60434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Glasses-Client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Collects sensors’ outputs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Communicates with Cloud MQTT-Broker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Sends messages to HUD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Local VLM/LLM</a:t>
            </a:r>
            <a:endParaRPr lang="el-GR" dirty="0">
              <a:latin typeface="Georgia" panose="020405020504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Tiny on device models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Used only in offline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RT Dependent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Real-time processing of high-frequency sensor data (gyroscope)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Minimal Health Watchdog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Fall Detection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Cardiac Monitoring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Emergency Triggers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VIDEO Streaming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Captures camera frames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Sends frames to VMS</a:t>
            </a:r>
            <a:endParaRPr lang="el-GR" dirty="0">
              <a:latin typeface="Georgia" panose="02040502050405020303" pitchFamily="18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687ADD02-0ACB-D2DD-636F-7E10D4E85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208" y="0"/>
            <a:ext cx="26777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5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0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AE174-28C8-9F75-5A85-C859CBC3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9F0BAB-283E-D5E5-B175-161E3EF80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ED39BD-C12C-EDE7-00B8-1E6315AD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063F6B-3A0E-A47F-2CC5-0863093B26DB}"/>
              </a:ext>
            </a:extLst>
          </p:cNvPr>
          <p:cNvSpPr txBox="1"/>
          <p:nvPr/>
        </p:nvSpPr>
        <p:spPr>
          <a:xfrm>
            <a:off x="-3051" y="300569"/>
            <a:ext cx="93752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USER’S PHONE APP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CLOUD ENTRY MQTT BROKER &amp; VMS</a:t>
            </a: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FE799CA6-F250-059C-76D4-513813E4D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1" r="-602"/>
          <a:stretch>
            <a:fillRect/>
          </a:stretch>
        </p:blipFill>
        <p:spPr>
          <a:xfrm>
            <a:off x="8517389" y="0"/>
            <a:ext cx="3674611" cy="5511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D74987-1F70-8101-892E-9DCD8A3630A8}"/>
              </a:ext>
            </a:extLst>
          </p:cNvPr>
          <p:cNvSpPr txBox="1"/>
          <p:nvPr/>
        </p:nvSpPr>
        <p:spPr>
          <a:xfrm>
            <a:off x="769270" y="1254676"/>
            <a:ext cx="62817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Phone App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Publishes GPS data stream to cloud broker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Records voice queries, uses voice to text and publishes text to Cloud broker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Receives AI outputs and uses Text-to-Speech (TTS) to respond audibly</a:t>
            </a: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MQTT Broker</a:t>
            </a:r>
            <a:endParaRPr lang="el-GR" dirty="0">
              <a:latin typeface="Georgia" panose="020405020504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Is the central point of communication linking the Edge, the App and the Cloud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Routes the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Critical for scalability and real time responsiveness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VMS</a:t>
            </a:r>
            <a:endParaRPr lang="el-GR" dirty="0">
              <a:latin typeface="Georgia" panose="02040502050405020303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</a:rPr>
              <a:t>Receives video from video streaming and routes frames to frontend or backend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CFE59363-180D-B484-3637-3C4FF0669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17" y="5962525"/>
            <a:ext cx="5439534" cy="895475"/>
          </a:xfrm>
          <a:prstGeom prst="rect">
            <a:avLst/>
          </a:prstGeom>
        </p:spPr>
      </p:pic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3AAEC2FD-D1BE-8168-E2F6-BC5495243716}"/>
              </a:ext>
            </a:extLst>
          </p:cNvPr>
          <p:cNvCxnSpPr/>
          <p:nvPr/>
        </p:nvCxnSpPr>
        <p:spPr>
          <a:xfrm>
            <a:off x="8520438" y="5874034"/>
            <a:ext cx="3671562" cy="0"/>
          </a:xfrm>
          <a:prstGeom prst="line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54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0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3A3D8-9A98-3A0A-206B-389016D2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D736E2B-D2E4-416A-31BC-737B7A667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D70A2B-91CD-5DCB-2E2F-367C4BBF8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9225F-214A-5B79-209E-BD1AE0061A6B}"/>
              </a:ext>
            </a:extLst>
          </p:cNvPr>
          <p:cNvSpPr txBox="1"/>
          <p:nvPr/>
        </p:nvSpPr>
        <p:spPr>
          <a:xfrm>
            <a:off x="-3051" y="300569"/>
            <a:ext cx="9375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INGESTION &amp; CONTEXT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27E1E-2FA6-0EBC-EF24-83D637727100}"/>
              </a:ext>
            </a:extLst>
          </p:cNvPr>
          <p:cNvSpPr txBox="1"/>
          <p:nvPr/>
        </p:nvSpPr>
        <p:spPr>
          <a:xfrm>
            <a:off x="769270" y="1254676"/>
            <a:ext cx="62817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Ingestion Point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Normalizes/Validates data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Forwards data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either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to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InfluxDB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for storing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or 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 context broker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Context Broker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Real-Time State Management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Event Subscriptions &amp; Notifications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Standardized API (NGSI/NGSI-LD)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MQTT Broker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Publishes notifications backend and frontend</a:t>
            </a: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CA000093-31F8-273B-B7B3-48D4AE1C4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658" y="-1"/>
            <a:ext cx="2969343" cy="687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0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9D1CF-14C3-CD17-B390-1239C49E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EA65EB-EED1-7027-C1C9-EECE804F0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2CAD2C-95D2-07FF-15AD-B24085013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4A0F8-5A3C-EB9B-3AA0-9B5B58317ECF}"/>
              </a:ext>
            </a:extLst>
          </p:cNvPr>
          <p:cNvSpPr txBox="1"/>
          <p:nvPr/>
        </p:nvSpPr>
        <p:spPr>
          <a:xfrm>
            <a:off x="3049" y="747740"/>
            <a:ext cx="7536269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Backend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Processes sensor stream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Connects AI Agents with Cloud via the AI gateway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Forwards frames from VMS to AI gateway via the  Video Ingestion point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Includes Care Giver portal backend (Node.js) which receives data from </a:t>
            </a:r>
            <a:r>
              <a:rPr lang="en-US" sz="1700" dirty="0" err="1">
                <a:solidFill>
                  <a:prstClr val="black"/>
                </a:solidFill>
                <a:latin typeface="Georgia" panose="02040502050405020303" pitchFamily="18" charset="0"/>
              </a:rPr>
              <a:t>influxDB</a:t>
            </a: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 and notifications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Publishes the AI answers and Care Giver messages to Cloud entry MQTT broker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Stores user’s info in </a:t>
            </a:r>
            <a:r>
              <a:rPr lang="en-US" sz="1700" dirty="0" err="1">
                <a:solidFill>
                  <a:prstClr val="black"/>
                </a:solidFill>
                <a:latin typeface="Georgia" panose="02040502050405020303" pitchFamily="18" charset="0"/>
              </a:rPr>
              <a:t>SQlite</a:t>
            </a: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 database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Frontend-Care Giver Portal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Displays graphs received from Grafana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It supports live streaming from glasses camera and live communication through messages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It receives critical notifications send from Cloud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AI Agents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LLM</a:t>
            </a:r>
          </a:p>
          <a:p>
            <a:pPr marL="1200150" lvl="2" indent="-285750">
              <a:buFont typeface="Wingdings" panose="05000000000000000000" pitchFamily="2" charset="2"/>
              <a:buChar char="ü"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Acts as logical router deciding to either answer the query itself or send it to VLM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VLM</a:t>
            </a:r>
          </a:p>
          <a:p>
            <a:pPr marL="1200150" lvl="2" indent="-285750">
              <a:buFont typeface="Wingdings" panose="05000000000000000000" pitchFamily="2" charset="2"/>
              <a:buChar char="ü"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Answers the queries using frames captured by VMS and communicates with </a:t>
            </a:r>
            <a:r>
              <a:rPr lang="en-US" sz="1700" dirty="0">
                <a:solidFill>
                  <a:prstClr val="black"/>
                </a:solidFill>
                <a:latin typeface="Georgia" panose="02040502050405020303" pitchFamily="18" charset="0"/>
              </a:rPr>
              <a:t>*MCP server,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which contains CV, for support to analyze the frames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23645-3D3B-0FF4-7C03-A0142DEAD4A2}"/>
              </a:ext>
            </a:extLst>
          </p:cNvPr>
          <p:cNvSpPr txBox="1"/>
          <p:nvPr/>
        </p:nvSpPr>
        <p:spPr>
          <a:xfrm>
            <a:off x="-3051" y="300569"/>
            <a:ext cx="7536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800" dirty="0">
                <a:solidFill>
                  <a:prstClr val="black"/>
                </a:solidFill>
                <a:latin typeface="Georgia" panose="02040502050405020303" pitchFamily="18" charset="0"/>
              </a:rPr>
              <a:t>BACKEND-FRONTEND &amp; AI AGENTS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FF49C9EF-1324-AC7F-A6F0-53DC3B07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993" y="12842"/>
            <a:ext cx="4509957" cy="684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5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3164445-8C1D-0C71-0D6D-1FD0C90C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Georgia" panose="02040502050405020303" pitchFamily="18" charset="0"/>
              </a:rPr>
              <a:t>LIVE VIEW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9AB66-340F-51BA-126E-4BBA09EA3FD9}"/>
              </a:ext>
            </a:extLst>
          </p:cNvPr>
          <p:cNvSpPr txBox="1"/>
          <p:nvPr/>
        </p:nvSpPr>
        <p:spPr>
          <a:xfrm>
            <a:off x="233587" y="4149654"/>
            <a:ext cx="4696553" cy="1148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Access to the glasses’ camera by the caregiver for live monitoring.</a:t>
            </a:r>
            <a:endParaRPr lang="en-US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438FBF34-CE2E-986E-27B6-CD12B9D36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751" y="1530159"/>
            <a:ext cx="6062662" cy="40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8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82CEA-6CD9-8C4F-A775-6EF6FFDF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376DC0D-2837-ADEA-A5FF-19521590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82262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LOCATION TRACKING PAGE</a:t>
            </a:r>
            <a:endParaRPr lang="en-US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pic>
        <p:nvPicPr>
          <p:cNvPr id="4" name="Θέση περιεχομένου 4">
            <a:extLst>
              <a:ext uri="{FF2B5EF4-FFF2-40B4-BE49-F238E27FC236}">
                <a16:creationId xmlns:a16="http://schemas.microsoft.com/office/drawing/2014/main" id="{49C4F3FA-97BC-F8D7-0C43-CAE9B6355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1879813"/>
            <a:ext cx="6106274" cy="32821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E63AF8-FAB0-65A7-BA88-787587763751}"/>
              </a:ext>
            </a:extLst>
          </p:cNvPr>
          <p:cNvSpPr txBox="1"/>
          <p:nvPr/>
        </p:nvSpPr>
        <p:spPr>
          <a:xfrm>
            <a:off x="233587" y="4149654"/>
            <a:ext cx="4696553" cy="1148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marR="0" lvl="0" indent="-28575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Georgia" panose="02040502050405020303" pitchFamily="18" charset="0"/>
              </a:rPr>
              <a:t>Tracking the user’s location via phone app</a:t>
            </a:r>
          </a:p>
        </p:txBody>
      </p:sp>
    </p:spTree>
    <p:extLst>
      <p:ext uri="{BB962C8B-B14F-4D97-AF65-F5344CB8AC3E}">
        <p14:creationId xmlns:p14="http://schemas.microsoft.com/office/powerpoint/2010/main" val="375585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947C0-A210-9B65-F4A3-F14F3D5D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C6C2AD9-DCF9-7BDC-A9FD-9EC55D71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30" y="1149267"/>
            <a:ext cx="4005069" cy="27441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USER’S HEALTH MONITORING </a:t>
            </a:r>
            <a:endParaRPr lang="en-US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E5C53-298E-A232-7EB0-3399AEBC56BE}"/>
              </a:ext>
            </a:extLst>
          </p:cNvPr>
          <p:cNvSpPr txBox="1"/>
          <p:nvPr/>
        </p:nvSpPr>
        <p:spPr>
          <a:xfrm>
            <a:off x="294969" y="4168877"/>
            <a:ext cx="3826656" cy="1089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marR="0" lvl="0" indent="-28575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Heart rate</a:t>
            </a:r>
          </a:p>
          <a:p>
            <a:pPr marL="285750" marR="0" lvl="0" indent="-28575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User’s speed </a:t>
            </a:r>
          </a:p>
          <a:p>
            <a:pPr marL="285750" marR="0" lvl="0" indent="-28575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Pedometer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6EA67AD3-7FF0-623F-D18E-C8D6517D4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751" y="1794182"/>
            <a:ext cx="6079939" cy="345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4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3DC4E-A893-6380-AA39-50713D4C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5F4E71-0F8B-F7AA-8290-148A92B6D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FDFC72-65D2-1058-5A35-465E39360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A42EB4C-9C75-ED51-F022-769576D0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21" y="1134447"/>
            <a:ext cx="4653999" cy="27738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Georgia" panose="02040502050405020303" pitchFamily="18" charset="0"/>
              </a:rPr>
              <a:t>NOTIFICATIONS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717E0-FA67-16C7-A591-04421BE0A791}"/>
              </a:ext>
            </a:extLst>
          </p:cNvPr>
          <p:cNvSpPr txBox="1"/>
          <p:nvPr/>
        </p:nvSpPr>
        <p:spPr>
          <a:xfrm>
            <a:off x="314632" y="4188543"/>
            <a:ext cx="4528088" cy="1098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Device status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Important alert for possible emergency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Θέση περιεχομένου 4">
            <a:extLst>
              <a:ext uri="{FF2B5EF4-FFF2-40B4-BE49-F238E27FC236}">
                <a16:creationId xmlns:a16="http://schemas.microsoft.com/office/drawing/2014/main" id="{4A77723E-0245-0A19-A387-B1015F037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884" y="2178151"/>
            <a:ext cx="6323464" cy="31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88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4E634-FFC8-2520-D6E1-AE16F747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84B8E85-3175-FAC1-BA08-9837EAF39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7083E7-7BB0-E93A-54FE-7782A7E2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04086B0-1C41-2375-58FF-CDA732351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948" y="2084438"/>
            <a:ext cx="5399247" cy="19467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Georgia" panose="02040502050405020303" pitchFamily="18" charset="0"/>
              </a:rPr>
              <a:t>COMMUNICATION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9D6D3-15AF-D6A0-6EE4-70A6D25F9879}"/>
              </a:ext>
            </a:extLst>
          </p:cNvPr>
          <p:cNvSpPr txBox="1"/>
          <p:nvPr/>
        </p:nvSpPr>
        <p:spPr>
          <a:xfrm>
            <a:off x="314632" y="4188543"/>
            <a:ext cx="4528088" cy="1098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Messages among user and care giver</a:t>
            </a:r>
          </a:p>
        </p:txBody>
      </p:sp>
      <p:pic>
        <p:nvPicPr>
          <p:cNvPr id="4" name="Θέση περιεχομένου 4">
            <a:extLst>
              <a:ext uri="{FF2B5EF4-FFF2-40B4-BE49-F238E27FC236}">
                <a16:creationId xmlns:a16="http://schemas.microsoft.com/office/drawing/2014/main" id="{3E80FAF4-5A86-5072-4AB2-7E8D4697E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8971" y="2084438"/>
            <a:ext cx="6456250" cy="330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98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AE9C973-0F6B-3759-1F83-52064B2A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PHONE APP &amp; APP INVENTOR BLOCKS</a:t>
            </a:r>
            <a:endParaRPr lang="el-GR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55EF9F00-B190-C17D-CB43-28A9F2BC7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424" y="1886814"/>
            <a:ext cx="2530059" cy="4244708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DE94487F-6EA5-9FAC-B755-4E8F14889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290" y="1886815"/>
            <a:ext cx="8634033" cy="377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12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ADD8AB7-CF9C-F5B4-EC91-4500FACA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PROJECT TIMELINE</a:t>
            </a:r>
            <a:endParaRPr lang="el-GR" dirty="0">
              <a:latin typeface="Georgia" panose="02040502050405020303" pitchFamily="18" charset="0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290A491-8330-10C1-392B-E2C803E8F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Glasses Controller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Local VLM/LLM integration (planned)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RT Dependent integration (planned)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Minimal Health Watchdog integration (planned)</a:t>
            </a: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Cloud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Phone app (almost completed)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Brokers communication logic (under development)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Video streaming logic (later work)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Databases (</a:t>
            </a:r>
            <a:r>
              <a:rPr lang="en-US" sz="1800" dirty="0" err="1">
                <a:latin typeface="Georgia" panose="02040502050405020303" pitchFamily="18" charset="0"/>
              </a:rPr>
              <a:t>influxDB</a:t>
            </a:r>
            <a:r>
              <a:rPr lang="en-US" sz="1800" dirty="0">
                <a:latin typeface="Georgia" panose="02040502050405020303" pitchFamily="18" charset="0"/>
              </a:rPr>
              <a:t> &amp; </a:t>
            </a:r>
            <a:r>
              <a:rPr lang="en-US" sz="1800" dirty="0" err="1">
                <a:latin typeface="Georgia" panose="02040502050405020303" pitchFamily="18" charset="0"/>
              </a:rPr>
              <a:t>SQlite</a:t>
            </a:r>
            <a:r>
              <a:rPr lang="en-US" sz="1800" dirty="0">
                <a:latin typeface="Georgia" panose="02040502050405020303" pitchFamily="18" charset="0"/>
              </a:rPr>
              <a:t>) (under development)</a:t>
            </a:r>
          </a:p>
          <a:p>
            <a:pPr marL="0" indent="0"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Backend &amp; Frontend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AI gateway (Completed)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Video Ingestion (later work)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Georgia" panose="02040502050405020303" pitchFamily="18" charset="0"/>
              </a:rPr>
              <a:t>BFF &amp; Frontend (planned)</a:t>
            </a:r>
          </a:p>
          <a:p>
            <a:pPr marL="514350" indent="-514350">
              <a:buFont typeface="+mj-lt"/>
              <a:buAutoNum type="arabicPeriod"/>
            </a:pPr>
            <a:endParaRPr lang="el-GR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807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1E457-795F-125D-8625-A8F9F423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 descr="Εικόνα που περιέχει γυαλιά, αξεσουάρ, είδη για τα μάτια, γυαλιά ηλίου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6176AAE2-BF51-D9E1-45AD-B9F95F33D9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6" b="12655"/>
          <a:stretch>
            <a:fillRect/>
          </a:stretch>
        </p:blipFill>
        <p:spPr>
          <a:xfrm>
            <a:off x="-19644" y="-19654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71C6C0-BC8F-2F1A-BFB0-E86B6A487610}"/>
              </a:ext>
            </a:extLst>
          </p:cNvPr>
          <p:cNvSpPr txBox="1"/>
          <p:nvPr/>
        </p:nvSpPr>
        <p:spPr>
          <a:xfrm>
            <a:off x="965200" y="965200"/>
            <a:ext cx="10261600" cy="35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1500" dirty="0">
              <a:ln w="22225">
                <a:solidFill>
                  <a:schemeClr val="tx1"/>
                </a:solidFill>
                <a:miter lim="800000"/>
              </a:ln>
              <a:noFill/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A52CA-0CE7-A0C2-401F-11C35BF8FFD7}"/>
              </a:ext>
            </a:extLst>
          </p:cNvPr>
          <p:cNvSpPr txBox="1"/>
          <p:nvPr/>
        </p:nvSpPr>
        <p:spPr>
          <a:xfrm>
            <a:off x="20" y="2048974"/>
            <a:ext cx="12191980" cy="2760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  <a:ea typeface="+mj-ea"/>
                <a:cs typeface="+mj-cs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801511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Πλέγμα</Template>
  <TotalTime>2247</TotalTime>
  <Words>630</Words>
  <Application>Microsoft Office PowerPoint</Application>
  <PresentationFormat>Ευρεία οθόνη</PresentationFormat>
  <Paragraphs>168</Paragraphs>
  <Slides>16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Georgia</vt:lpstr>
      <vt:lpstr>Wingdings</vt:lpstr>
      <vt:lpstr>Θέμα του Office</vt:lpstr>
      <vt:lpstr>Assistance for people with Disabilities</vt:lpstr>
      <vt:lpstr>Critical Sensors </vt:lpstr>
      <vt:lpstr>Possible Use Cases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LIVE VIEW PAGE</vt:lpstr>
      <vt:lpstr>LOCATION TRACKING PAGE</vt:lpstr>
      <vt:lpstr>USER’S HEALTH MONITORING </vt:lpstr>
      <vt:lpstr>NOTIFICATIONS PAGE</vt:lpstr>
      <vt:lpstr>COMMUNICATION PAGE</vt:lpstr>
      <vt:lpstr>PHONE APP &amp; APP INVENTOR BLOCKS</vt:lpstr>
      <vt:lpstr>PROJECT TIMELINE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ΚΑΡΒΟΥΝΗΣ ΠΑΣΧΑΛΗΣ</dc:creator>
  <cp:lastModifiedBy>ΚΩΤΣΟΠΟΥΛΟΣ ΙΩΑΝΝΗΣ</cp:lastModifiedBy>
  <cp:revision>202</cp:revision>
  <dcterms:created xsi:type="dcterms:W3CDTF">2025-11-11T13:01:55Z</dcterms:created>
  <dcterms:modified xsi:type="dcterms:W3CDTF">2026-02-12T21:50:46Z</dcterms:modified>
</cp:coreProperties>
</file>